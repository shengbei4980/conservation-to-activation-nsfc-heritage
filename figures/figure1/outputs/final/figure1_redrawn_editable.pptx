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0002500" cy="12372975"/>
  <p:notesSz cx="6858000" cy="9144000"/>
  <p:defaultTextStyle>
    <a:defPPr>
      <a:defRPr lang="zh-CN"/>
    </a:defPPr>
    <a:lvl1pPr marL="0" algn="l" defTabSz="9142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00" algn="l" defTabSz="9142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01" algn="l" defTabSz="9142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01" algn="l" defTabSz="9142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02" algn="l" defTabSz="9142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02" algn="l" defTabSz="9142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03" algn="l" defTabSz="9142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03" algn="l" defTabSz="9142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04" algn="l" defTabSz="91420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62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201" rtl="0" eaLnBrk="1" latinLnBrk="0" hangingPunct="1">
      <a:defRPr sz="1199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source figure: E:\NC\框架\5.6纪导框架\heritage_research_agenda\heritage_research_agenda\定稿图\figure1\svg (1).png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sv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28.sv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band-Step 1. Corpus preprocessing and project-level evidence binding">
            <a:extLst>
              <a:ext uri="{FF2B5EF4-FFF2-40B4-BE49-F238E27FC236}">
                <a16:creationId xmlns:a16="http://schemas.microsoft.com/office/drawing/2014/main" id="{EF9DE870-CA92-4C14-A1ED-5C7BCA649EA3}"/>
              </a:ext>
            </a:extLst>
          </p:cNvPr>
          <p:cNvSpPr>
            <a:spLocks noGrp="1"/>
          </p:cNvSpPr>
          <p:nvPr/>
        </p:nvSpPr>
        <p:spPr>
          <a:xfrm>
            <a:off x="566696" y="729775"/>
            <a:ext cx="18745200" cy="2019300"/>
          </a:xfrm>
          <a:prstGeom prst="roundRect">
            <a:avLst>
              <a:gd name="adj" fmla="val 8491"/>
            </a:avLst>
          </a:prstGeom>
          <a:noFill/>
          <a:ln w="23813">
            <a:solidFill>
              <a:srgbClr val="2878E8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itle-Step 1. Corpus preprocessing and project-level evidence binding">
            <a:extLst>
              <a:ext uri="{FF2B5EF4-FFF2-40B4-BE49-F238E27FC236}">
                <a16:creationId xmlns:a16="http://schemas.microsoft.com/office/drawing/2014/main" id="{5157C44B-6994-4E42-BBE6-89D577402282}"/>
              </a:ext>
            </a:extLst>
          </p:cNvPr>
          <p:cNvSpPr>
            <a:spLocks noGrp="1"/>
          </p:cNvSpPr>
          <p:nvPr/>
        </p:nvSpPr>
        <p:spPr>
          <a:xfrm>
            <a:off x="4510046" y="767875"/>
            <a:ext cx="1076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5908"/>
          </a:bodyPr>
          <a:lstStyle/>
          <a:p>
            <a:pPr algn="ctr">
              <a:lnSpc>
                <a:spcPct val="92000"/>
              </a:lnSpc>
              <a:buNone/>
              <a:defRPr sz="2550" b="1" i="0">
                <a:solidFill>
                  <a:srgbClr val="2878E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dirty="0">
                <a:solidFill>
                  <a:srgbClr val="2878E8"/>
                </a:solidFill>
                <a:latin typeface="Times New Roman"/>
                <a:ea typeface="Times New Roman"/>
                <a:cs typeface="Times New Roman"/>
              </a:rPr>
              <a:t>Step 1. Corpus preprocessing and project-level evidence binding</a:t>
            </a:r>
          </a:p>
        </p:txBody>
      </p:sp>
      <p:pic>
        <p:nvPicPr>
          <p:cNvPr id="636" name="图片 6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9863" y="777059"/>
            <a:ext cx="2587171" cy="1752600"/>
          </a:xfrm>
          <a:prstGeom prst="rect">
            <a:avLst/>
          </a:prstGeom>
        </p:spPr>
      </p:pic>
      <p:sp>
        <p:nvSpPr>
          <p:cNvPr id="4" name="flow-arrow-645-127">
            <a:extLst>
              <a:ext uri="{FF2B5EF4-FFF2-40B4-BE49-F238E27FC236}">
                <a16:creationId xmlns:a16="http://schemas.microsoft.com/office/drawing/2014/main" id="{3B8F203F-667C-4172-A6FE-884F49D42442}"/>
              </a:ext>
            </a:extLst>
          </p:cNvPr>
          <p:cNvSpPr>
            <a:spLocks noGrp="1"/>
          </p:cNvSpPr>
          <p:nvPr/>
        </p:nvSpPr>
        <p:spPr>
          <a:xfrm>
            <a:off x="6557921" y="1501300"/>
            <a:ext cx="371475" cy="428625"/>
          </a:xfrm>
          <a:prstGeom prst="rightArrow">
            <a:avLst/>
          </a:prstGeom>
          <a:solidFill>
            <a:srgbClr val="858585"/>
          </a:solidFill>
          <a:ln w="4763">
            <a:solidFill>
              <a:srgbClr val="85858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flow-arrow-976-127">
            <a:extLst>
              <a:ext uri="{FF2B5EF4-FFF2-40B4-BE49-F238E27FC236}">
                <a16:creationId xmlns:a16="http://schemas.microsoft.com/office/drawing/2014/main" id="{2554029F-4CC4-4ECA-8451-BCDAE1ED2A96}"/>
              </a:ext>
            </a:extLst>
          </p:cNvPr>
          <p:cNvSpPr>
            <a:spLocks noGrp="1"/>
          </p:cNvSpPr>
          <p:nvPr/>
        </p:nvSpPr>
        <p:spPr>
          <a:xfrm>
            <a:off x="9710696" y="1501300"/>
            <a:ext cx="371475" cy="428625"/>
          </a:xfrm>
          <a:prstGeom prst="rightArrow">
            <a:avLst/>
          </a:prstGeom>
          <a:solidFill>
            <a:srgbClr val="858585"/>
          </a:solidFill>
          <a:ln w="4763">
            <a:solidFill>
              <a:srgbClr val="85858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flow-arrow-1307-127">
            <a:extLst>
              <a:ext uri="{FF2B5EF4-FFF2-40B4-BE49-F238E27FC236}">
                <a16:creationId xmlns:a16="http://schemas.microsoft.com/office/drawing/2014/main" id="{5A411B6C-DC15-4DB0-9CB0-AAFA3C5963E4}"/>
              </a:ext>
            </a:extLst>
          </p:cNvPr>
          <p:cNvSpPr>
            <a:spLocks noGrp="1"/>
          </p:cNvSpPr>
          <p:nvPr/>
        </p:nvSpPr>
        <p:spPr>
          <a:xfrm>
            <a:off x="12806383" y="1496062"/>
            <a:ext cx="371475" cy="428625"/>
          </a:xfrm>
          <a:prstGeom prst="rightArrow">
            <a:avLst/>
          </a:prstGeom>
          <a:solidFill>
            <a:srgbClr val="858585"/>
          </a:solidFill>
          <a:ln w="4763">
            <a:solidFill>
              <a:srgbClr val="85858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flow-arrow-1615-127">
            <a:extLst>
              <a:ext uri="{FF2B5EF4-FFF2-40B4-BE49-F238E27FC236}">
                <a16:creationId xmlns:a16="http://schemas.microsoft.com/office/drawing/2014/main" id="{AE7882E0-35D9-4880-A109-F77C793AC1BE}"/>
              </a:ext>
            </a:extLst>
          </p:cNvPr>
          <p:cNvSpPr>
            <a:spLocks noGrp="1"/>
          </p:cNvSpPr>
          <p:nvPr/>
        </p:nvSpPr>
        <p:spPr>
          <a:xfrm>
            <a:off x="15797171" y="1501300"/>
            <a:ext cx="371475" cy="428625"/>
          </a:xfrm>
          <a:prstGeom prst="rightArrow">
            <a:avLst/>
          </a:prstGeom>
          <a:solidFill>
            <a:srgbClr val="858585"/>
          </a:solidFill>
          <a:ln w="4763">
            <a:solidFill>
              <a:srgbClr val="85858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tep1-records">
            <a:extLst>
              <a:ext uri="{FF2B5EF4-FFF2-40B4-BE49-F238E27FC236}">
                <a16:creationId xmlns:a16="http://schemas.microsoft.com/office/drawing/2014/main" id="{4862670C-7AEE-4716-B76D-633CA5DF40DB}"/>
              </a:ext>
            </a:extLst>
          </p:cNvPr>
          <p:cNvSpPr>
            <a:spLocks noGrp="1"/>
          </p:cNvSpPr>
          <p:nvPr/>
        </p:nvSpPr>
        <p:spPr>
          <a:xfrm>
            <a:off x="3452771" y="1177450"/>
            <a:ext cx="3086100" cy="128587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0955">
            <a:solidFill>
              <a:srgbClr val="2878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42" name="图片 64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525707" y="1268248"/>
            <a:ext cx="834887" cy="1066800"/>
          </a:xfrm>
          <a:prstGeom prst="rect">
            <a:avLst/>
          </a:prstGeom>
        </p:spPr>
      </p:pic>
      <p:sp>
        <p:nvSpPr>
          <p:cNvPr id="10" name="step1-records-header">
            <a:extLst>
              <a:ext uri="{FF2B5EF4-FFF2-40B4-BE49-F238E27FC236}">
                <a16:creationId xmlns:a16="http://schemas.microsoft.com/office/drawing/2014/main" id="{DBB0DA6E-BB8F-404C-AF00-486AF2E67D15}"/>
              </a:ext>
            </a:extLst>
          </p:cNvPr>
          <p:cNvSpPr>
            <a:spLocks noGrp="1"/>
          </p:cNvSpPr>
          <p:nvPr/>
        </p:nvSpPr>
        <p:spPr>
          <a:xfrm>
            <a:off x="4519571" y="1260246"/>
            <a:ext cx="1952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500" b="1" i="0">
                <a:solidFill>
                  <a:srgbClr val="2878E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2878E8"/>
                </a:solidFill>
                <a:latin typeface="Times New Roman"/>
                <a:ea typeface="Times New Roman"/>
                <a:cs typeface="Times New Roman"/>
              </a:rPr>
              <a:t>NSFC project records</a:t>
            </a:r>
          </a:p>
        </p:txBody>
      </p:sp>
      <p:sp>
        <p:nvSpPr>
          <p:cNvPr id="11" name="step1-records-body">
            <a:extLst>
              <a:ext uri="{FF2B5EF4-FFF2-40B4-BE49-F238E27FC236}">
                <a16:creationId xmlns:a16="http://schemas.microsoft.com/office/drawing/2014/main" id="{CD668937-997C-42FB-8C83-1AAFCF8D1FEC}"/>
              </a:ext>
            </a:extLst>
          </p:cNvPr>
          <p:cNvSpPr>
            <a:spLocks noGrp="1"/>
          </p:cNvSpPr>
          <p:nvPr/>
        </p:nvSpPr>
        <p:spPr>
          <a:xfrm>
            <a:off x="4490996" y="1651638"/>
            <a:ext cx="1952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3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raw search records = 144</a:t>
            </a:r>
          </a:p>
          <a:p>
            <a:pPr algn="ctr">
              <a:lnSpc>
                <a:spcPct val="92000"/>
              </a:lnSpc>
              <a:buNone/>
              <a:defRPr sz="13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retained heritage-related</a:t>
            </a:r>
          </a:p>
          <a:p>
            <a:pPr algn="ctr">
              <a:lnSpc>
                <a:spcPct val="92000"/>
              </a:lnSpc>
              <a:buNone/>
              <a:defRPr sz="13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corpus = 142</a:t>
            </a:r>
          </a:p>
        </p:txBody>
      </p:sp>
      <p:sp>
        <p:nvSpPr>
          <p:cNvPr id="12" name="step1-reports">
            <a:extLst>
              <a:ext uri="{FF2B5EF4-FFF2-40B4-BE49-F238E27FC236}">
                <a16:creationId xmlns:a16="http://schemas.microsoft.com/office/drawing/2014/main" id="{1F4E3CCA-86A2-43C9-880C-B518A5D6AF40}"/>
              </a:ext>
            </a:extLst>
          </p:cNvPr>
          <p:cNvSpPr>
            <a:spLocks noGrp="1"/>
          </p:cNvSpPr>
          <p:nvPr/>
        </p:nvSpPr>
        <p:spPr>
          <a:xfrm>
            <a:off x="6948446" y="1177450"/>
            <a:ext cx="2733675" cy="128587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0955">
            <a:solidFill>
              <a:srgbClr val="2878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46" name="图片 645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7159850" y="1291750"/>
            <a:ext cx="834491" cy="1047750"/>
          </a:xfrm>
          <a:prstGeom prst="rect">
            <a:avLst/>
          </a:prstGeom>
        </p:spPr>
      </p:pic>
      <p:sp>
        <p:nvSpPr>
          <p:cNvPr id="14" name="step1-reports-header">
            <a:extLst>
              <a:ext uri="{FF2B5EF4-FFF2-40B4-BE49-F238E27FC236}">
                <a16:creationId xmlns:a16="http://schemas.microsoft.com/office/drawing/2014/main" id="{CC7559B2-C23E-43A9-B271-A41AFBD3908B}"/>
              </a:ext>
            </a:extLst>
          </p:cNvPr>
          <p:cNvSpPr>
            <a:spLocks noGrp="1"/>
          </p:cNvSpPr>
          <p:nvPr/>
        </p:nvSpPr>
        <p:spPr>
          <a:xfrm>
            <a:off x="7986671" y="1263175"/>
            <a:ext cx="16192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500" b="1" i="0">
                <a:solidFill>
                  <a:srgbClr val="2878E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2878E8"/>
                </a:solidFill>
                <a:latin typeface="Times New Roman"/>
                <a:ea typeface="Times New Roman"/>
                <a:cs typeface="Times New Roman"/>
              </a:rPr>
              <a:t>NSFC</a:t>
            </a:r>
          </a:p>
          <a:p>
            <a:pPr algn="ctr">
              <a:lnSpc>
                <a:spcPct val="92000"/>
              </a:lnSpc>
              <a:buNone/>
              <a:defRPr sz="1500" b="1" i="0">
                <a:solidFill>
                  <a:srgbClr val="2878E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2878E8"/>
                </a:solidFill>
                <a:latin typeface="Times New Roman"/>
                <a:ea typeface="Times New Roman"/>
                <a:cs typeface="Times New Roman"/>
              </a:rPr>
              <a:t>Final-report texts</a:t>
            </a:r>
          </a:p>
        </p:txBody>
      </p:sp>
      <p:sp>
        <p:nvSpPr>
          <p:cNvPr id="15" name="step1-reports-body">
            <a:extLst>
              <a:ext uri="{FF2B5EF4-FFF2-40B4-BE49-F238E27FC236}">
                <a16:creationId xmlns:a16="http://schemas.microsoft.com/office/drawing/2014/main" id="{CB423D2E-CEC7-4E71-B0F2-371AC9C661BF}"/>
              </a:ext>
            </a:extLst>
          </p:cNvPr>
          <p:cNvSpPr>
            <a:spLocks noGrp="1"/>
          </p:cNvSpPr>
          <p:nvPr/>
        </p:nvSpPr>
        <p:spPr>
          <a:xfrm>
            <a:off x="8003866" y="1761175"/>
            <a:ext cx="15716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3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OCR recognition and</a:t>
            </a:r>
          </a:p>
          <a:p>
            <a:pPr algn="ctr">
              <a:lnSpc>
                <a:spcPct val="92000"/>
              </a:lnSpc>
              <a:buNone/>
              <a:defRPr sz="13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text extraction</a:t>
            </a:r>
          </a:p>
        </p:txBody>
      </p:sp>
      <p:sp>
        <p:nvSpPr>
          <p:cNvPr id="16" name="step1-metadata">
            <a:extLst>
              <a:ext uri="{FF2B5EF4-FFF2-40B4-BE49-F238E27FC236}">
                <a16:creationId xmlns:a16="http://schemas.microsoft.com/office/drawing/2014/main" id="{827E81CB-C27E-4798-93F4-A35858E5E80C}"/>
              </a:ext>
            </a:extLst>
          </p:cNvPr>
          <p:cNvSpPr>
            <a:spLocks noGrp="1"/>
          </p:cNvSpPr>
          <p:nvPr/>
        </p:nvSpPr>
        <p:spPr>
          <a:xfrm>
            <a:off x="10110746" y="1177450"/>
            <a:ext cx="2638425" cy="128587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0955">
            <a:solidFill>
              <a:srgbClr val="2878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50" name="图片 649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129796" y="1259624"/>
            <a:ext cx="838200" cy="1052623"/>
          </a:xfrm>
          <a:prstGeom prst="rect">
            <a:avLst/>
          </a:prstGeom>
        </p:spPr>
      </p:pic>
      <p:sp>
        <p:nvSpPr>
          <p:cNvPr id="18" name="step1-metadata-header">
            <a:extLst>
              <a:ext uri="{FF2B5EF4-FFF2-40B4-BE49-F238E27FC236}">
                <a16:creationId xmlns:a16="http://schemas.microsoft.com/office/drawing/2014/main" id="{E9EA3D4D-3993-4115-A789-CAB5B8AED62A}"/>
              </a:ext>
            </a:extLst>
          </p:cNvPr>
          <p:cNvSpPr>
            <a:spLocks noGrp="1"/>
          </p:cNvSpPr>
          <p:nvPr/>
        </p:nvSpPr>
        <p:spPr>
          <a:xfrm>
            <a:off x="10889415" y="1189921"/>
            <a:ext cx="194310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500" b="1" i="0">
                <a:solidFill>
                  <a:srgbClr val="2878E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2878E8"/>
                </a:solidFill>
                <a:latin typeface="Times New Roman"/>
                <a:ea typeface="Times New Roman"/>
                <a:cs typeface="Times New Roman"/>
              </a:rPr>
              <a:t>Metadata and</a:t>
            </a:r>
          </a:p>
          <a:p>
            <a:pPr algn="ctr">
              <a:lnSpc>
                <a:spcPct val="92000"/>
              </a:lnSpc>
              <a:buNone/>
              <a:defRPr sz="1500" b="1" i="0">
                <a:solidFill>
                  <a:srgbClr val="2878E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2878E8"/>
                </a:solidFill>
                <a:latin typeface="Times New Roman"/>
                <a:ea typeface="Times New Roman"/>
                <a:cs typeface="Times New Roman"/>
              </a:rPr>
              <a:t>achievement statistics</a:t>
            </a:r>
          </a:p>
        </p:txBody>
      </p:sp>
      <p:sp>
        <p:nvSpPr>
          <p:cNvPr id="19" name="step1-metadata-body">
            <a:extLst>
              <a:ext uri="{FF2B5EF4-FFF2-40B4-BE49-F238E27FC236}">
                <a16:creationId xmlns:a16="http://schemas.microsoft.com/office/drawing/2014/main" id="{1DD199F9-76DC-4C32-A40D-3E12882141C6}"/>
              </a:ext>
            </a:extLst>
          </p:cNvPr>
          <p:cNvSpPr>
            <a:spLocks noGrp="1"/>
          </p:cNvSpPr>
          <p:nvPr/>
        </p:nvSpPr>
        <p:spPr>
          <a:xfrm>
            <a:off x="11075152" y="1691800"/>
            <a:ext cx="15716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3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funding category</a:t>
            </a:r>
          </a:p>
          <a:p>
            <a:pPr algn="ctr">
              <a:lnSpc>
                <a:spcPct val="92000"/>
              </a:lnSpc>
              <a:buNone/>
              <a:defRPr sz="13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discipline code</a:t>
            </a:r>
          </a:p>
          <a:p>
            <a:pPr algn="ctr">
              <a:lnSpc>
                <a:spcPct val="92000"/>
              </a:lnSpc>
              <a:buNone/>
              <a:defRPr sz="13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sub-quantities</a:t>
            </a:r>
          </a:p>
        </p:txBody>
      </p:sp>
      <p:sp>
        <p:nvSpPr>
          <p:cNvPr id="20" name="step1-cleaning">
            <a:extLst>
              <a:ext uri="{FF2B5EF4-FFF2-40B4-BE49-F238E27FC236}">
                <a16:creationId xmlns:a16="http://schemas.microsoft.com/office/drawing/2014/main" id="{8F4F5755-8332-45A5-A808-1D8723F1BF46}"/>
              </a:ext>
            </a:extLst>
          </p:cNvPr>
          <p:cNvSpPr>
            <a:spLocks noGrp="1"/>
          </p:cNvSpPr>
          <p:nvPr/>
        </p:nvSpPr>
        <p:spPr>
          <a:xfrm>
            <a:off x="13230183" y="1156338"/>
            <a:ext cx="2524125" cy="128587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0955">
            <a:solidFill>
              <a:srgbClr val="2878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tep1-cleaning-header">
            <a:extLst>
              <a:ext uri="{FF2B5EF4-FFF2-40B4-BE49-F238E27FC236}">
                <a16:creationId xmlns:a16="http://schemas.microsoft.com/office/drawing/2014/main" id="{50AAB6A1-4CC0-4224-B7B1-315A28DF9D06}"/>
              </a:ext>
            </a:extLst>
          </p:cNvPr>
          <p:cNvSpPr>
            <a:spLocks noGrp="1"/>
          </p:cNvSpPr>
          <p:nvPr/>
        </p:nvSpPr>
        <p:spPr>
          <a:xfrm>
            <a:off x="14011233" y="1306038"/>
            <a:ext cx="16478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425" b="1" i="0">
                <a:solidFill>
                  <a:srgbClr val="2878E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2878E8"/>
                </a:solidFill>
                <a:latin typeface="Times New Roman"/>
                <a:ea typeface="Times New Roman"/>
                <a:cs typeface="Times New Roman"/>
              </a:rPr>
              <a:t>Text cleaning and binding</a:t>
            </a:r>
          </a:p>
        </p:txBody>
      </p:sp>
      <p:sp>
        <p:nvSpPr>
          <p:cNvPr id="23" name="step1-cleaning-body">
            <a:extLst>
              <a:ext uri="{FF2B5EF4-FFF2-40B4-BE49-F238E27FC236}">
                <a16:creationId xmlns:a16="http://schemas.microsoft.com/office/drawing/2014/main" id="{9E1F8938-49EC-4EAE-A3A1-56BBC19ED778}"/>
              </a:ext>
            </a:extLst>
          </p:cNvPr>
          <p:cNvSpPr>
            <a:spLocks noGrp="1"/>
          </p:cNvSpPr>
          <p:nvPr/>
        </p:nvSpPr>
        <p:spPr>
          <a:xfrm>
            <a:off x="13660437" y="1680213"/>
            <a:ext cx="2093871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6822"/>
          </a:bodyPr>
          <a:lstStyle/>
          <a:p>
            <a:pPr algn="ctr">
              <a:lnSpc>
                <a:spcPct val="92000"/>
              </a:lnSpc>
              <a:buNone/>
              <a:defRPr sz="13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noise removal</a:t>
            </a:r>
          </a:p>
          <a:p>
            <a:pPr algn="ctr">
              <a:lnSpc>
                <a:spcPct val="92000"/>
              </a:lnSpc>
              <a:buNone/>
              <a:defRPr sz="13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spacing merge</a:t>
            </a:r>
          </a:p>
          <a:p>
            <a:pPr algn="ctr">
              <a:lnSpc>
                <a:spcPct val="92000"/>
              </a:lnSpc>
              <a:buNone/>
              <a:defRPr sz="13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markdown/image removal</a:t>
            </a:r>
          </a:p>
        </p:txBody>
      </p:sp>
      <p:sp>
        <p:nvSpPr>
          <p:cNvPr id="24" name="step1-evidence">
            <a:extLst>
              <a:ext uri="{FF2B5EF4-FFF2-40B4-BE49-F238E27FC236}">
                <a16:creationId xmlns:a16="http://schemas.microsoft.com/office/drawing/2014/main" id="{4DFF1C67-0CB8-486C-84AD-03A25B825B26}"/>
              </a:ext>
            </a:extLst>
          </p:cNvPr>
          <p:cNvSpPr>
            <a:spLocks noGrp="1"/>
          </p:cNvSpPr>
          <p:nvPr/>
        </p:nvSpPr>
        <p:spPr>
          <a:xfrm>
            <a:off x="16211509" y="1142997"/>
            <a:ext cx="2714625" cy="1285875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20955">
            <a:solidFill>
              <a:srgbClr val="2878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58" name="图片 657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6266803" y="1262059"/>
            <a:ext cx="876300" cy="1047750"/>
          </a:xfrm>
          <a:prstGeom prst="rect">
            <a:avLst/>
          </a:prstGeom>
        </p:spPr>
      </p:pic>
      <p:sp>
        <p:nvSpPr>
          <p:cNvPr id="26" name="step1-evidence-header">
            <a:extLst>
              <a:ext uri="{FF2B5EF4-FFF2-40B4-BE49-F238E27FC236}">
                <a16:creationId xmlns:a16="http://schemas.microsoft.com/office/drawing/2014/main" id="{6E65CC1A-AECA-4CDF-82ED-30E3FDC48A7C}"/>
              </a:ext>
            </a:extLst>
          </p:cNvPr>
          <p:cNvSpPr>
            <a:spLocks noGrp="1"/>
          </p:cNvSpPr>
          <p:nvPr/>
        </p:nvSpPr>
        <p:spPr>
          <a:xfrm>
            <a:off x="16918770" y="1255483"/>
            <a:ext cx="2090676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425" b="1" i="0">
                <a:solidFill>
                  <a:srgbClr val="2878E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2878E8"/>
                </a:solidFill>
                <a:latin typeface="Times New Roman"/>
                <a:ea typeface="Times New Roman"/>
                <a:cs typeface="Times New Roman"/>
              </a:rPr>
              <a:t>Project-level evidence</a:t>
            </a:r>
          </a:p>
        </p:txBody>
      </p:sp>
      <p:sp>
        <p:nvSpPr>
          <p:cNvPr id="27" name="step1-evidence-body">
            <a:extLst>
              <a:ext uri="{FF2B5EF4-FFF2-40B4-BE49-F238E27FC236}">
                <a16:creationId xmlns:a16="http://schemas.microsoft.com/office/drawing/2014/main" id="{17147E02-61A5-4A0B-9D5F-0454BB002AB3}"/>
              </a:ext>
            </a:extLst>
          </p:cNvPr>
          <p:cNvSpPr>
            <a:spLocks noGrp="1"/>
          </p:cNvSpPr>
          <p:nvPr/>
        </p:nvSpPr>
        <p:spPr>
          <a:xfrm>
            <a:off x="17209252" y="1636064"/>
            <a:ext cx="15621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3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project</a:t>
            </a:r>
          </a:p>
          <a:p>
            <a:pPr algn="ctr">
              <a:lnSpc>
                <a:spcPct val="92000"/>
              </a:lnSpc>
              <a:buNone/>
              <a:defRPr sz="135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evidence package</a:t>
            </a:r>
          </a:p>
        </p:txBody>
      </p:sp>
      <p:sp>
        <p:nvSpPr>
          <p:cNvPr id="28" name="step1-normalization-note">
            <a:extLst>
              <a:ext uri="{FF2B5EF4-FFF2-40B4-BE49-F238E27FC236}">
                <a16:creationId xmlns:a16="http://schemas.microsoft.com/office/drawing/2014/main" id="{AA891997-A919-4E16-88B0-4632EE0772E7}"/>
              </a:ext>
            </a:extLst>
          </p:cNvPr>
          <p:cNvSpPr>
            <a:spLocks noGrp="1"/>
          </p:cNvSpPr>
          <p:nvPr/>
        </p:nvSpPr>
        <p:spPr>
          <a:xfrm>
            <a:off x="6843671" y="2482375"/>
            <a:ext cx="7334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350" b="1" i="1">
                <a:solidFill>
                  <a:srgbClr val="2878E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i="1" dirty="0">
                <a:solidFill>
                  <a:srgbClr val="2878E8"/>
                </a:solidFill>
                <a:latin typeface="Times New Roman"/>
                <a:ea typeface="Times New Roman"/>
                <a:cs typeface="Times New Roman"/>
              </a:rPr>
              <a:t>All records are normalized and standardized before coding.</a:t>
            </a:r>
          </a:p>
        </p:txBody>
      </p:sp>
      <p:sp>
        <p:nvSpPr>
          <p:cNvPr id="29" name="band-Step 2. System-role specification">
            <a:extLst>
              <a:ext uri="{FF2B5EF4-FFF2-40B4-BE49-F238E27FC236}">
                <a16:creationId xmlns:a16="http://schemas.microsoft.com/office/drawing/2014/main" id="{5D91B303-2273-4EAA-A3D2-21E6C7C0885B}"/>
              </a:ext>
            </a:extLst>
          </p:cNvPr>
          <p:cNvSpPr>
            <a:spLocks noGrp="1"/>
          </p:cNvSpPr>
          <p:nvPr/>
        </p:nvSpPr>
        <p:spPr>
          <a:xfrm>
            <a:off x="566696" y="2872900"/>
            <a:ext cx="18745200" cy="1571625"/>
          </a:xfrm>
          <a:prstGeom prst="roundRect">
            <a:avLst>
              <a:gd name="adj" fmla="val 10909"/>
            </a:avLst>
          </a:prstGeom>
          <a:noFill/>
          <a:ln w="23813">
            <a:solidFill>
              <a:srgbClr val="0AA3B5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itle-Step 2. System-role specification">
            <a:extLst>
              <a:ext uri="{FF2B5EF4-FFF2-40B4-BE49-F238E27FC236}">
                <a16:creationId xmlns:a16="http://schemas.microsoft.com/office/drawing/2014/main" id="{42CF07EB-CA33-464F-98F0-450FB9A80164}"/>
              </a:ext>
            </a:extLst>
          </p:cNvPr>
          <p:cNvSpPr>
            <a:spLocks noGrp="1"/>
          </p:cNvSpPr>
          <p:nvPr/>
        </p:nvSpPr>
        <p:spPr>
          <a:xfrm>
            <a:off x="4510046" y="2872900"/>
            <a:ext cx="1076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5908"/>
          </a:bodyPr>
          <a:lstStyle/>
          <a:p>
            <a:pPr algn="ctr">
              <a:lnSpc>
                <a:spcPct val="92000"/>
              </a:lnSpc>
              <a:buNone/>
              <a:defRPr sz="2550" b="1" i="0">
                <a:solidFill>
                  <a:srgbClr val="0AA3B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0AA3B5"/>
                </a:solidFill>
                <a:latin typeface="Times New Roman"/>
                <a:ea typeface="Times New Roman"/>
                <a:cs typeface="Times New Roman"/>
              </a:rPr>
              <a:t>Step 2. System-role specification</a:t>
            </a:r>
          </a:p>
        </p:txBody>
      </p:sp>
      <p:pic>
        <p:nvPicPr>
          <p:cNvPr id="664" name="图片 663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62928" y="2941163"/>
            <a:ext cx="2249882" cy="1450120"/>
          </a:xfrm>
          <a:prstGeom prst="rect">
            <a:avLst/>
          </a:prstGeom>
        </p:spPr>
      </p:pic>
      <p:sp>
        <p:nvSpPr>
          <p:cNvPr id="32" name="heritage-protection-label">
            <a:extLst>
              <a:ext uri="{FF2B5EF4-FFF2-40B4-BE49-F238E27FC236}">
                <a16:creationId xmlns:a16="http://schemas.microsoft.com/office/drawing/2014/main" id="{0A45600C-57E9-4279-9D78-29692CEA01F8}"/>
              </a:ext>
            </a:extLst>
          </p:cNvPr>
          <p:cNvSpPr>
            <a:spLocks noGrp="1"/>
          </p:cNvSpPr>
          <p:nvPr/>
        </p:nvSpPr>
        <p:spPr>
          <a:xfrm>
            <a:off x="4062371" y="2939575"/>
            <a:ext cx="2333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heritage protection</a:t>
            </a:r>
          </a:p>
        </p:txBody>
      </p:sp>
      <p:sp>
        <p:nvSpPr>
          <p:cNvPr id="33" name="flow-arrow-646-345">
            <a:extLst>
              <a:ext uri="{FF2B5EF4-FFF2-40B4-BE49-F238E27FC236}">
                <a16:creationId xmlns:a16="http://schemas.microsoft.com/office/drawing/2014/main" id="{3020223A-4641-41E6-8F95-2C5CD52FFADC}"/>
              </a:ext>
            </a:extLst>
          </p:cNvPr>
          <p:cNvSpPr>
            <a:spLocks noGrp="1"/>
          </p:cNvSpPr>
          <p:nvPr/>
        </p:nvSpPr>
        <p:spPr>
          <a:xfrm>
            <a:off x="6567448" y="3577752"/>
            <a:ext cx="371475" cy="409575"/>
          </a:xfrm>
          <a:prstGeom prst="rightArrow">
            <a:avLst/>
          </a:prstGeom>
          <a:solidFill>
            <a:srgbClr val="858585"/>
          </a:solidFill>
          <a:ln w="4763">
            <a:solidFill>
              <a:srgbClr val="85858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flow-arrow-976-345">
            <a:extLst>
              <a:ext uri="{FF2B5EF4-FFF2-40B4-BE49-F238E27FC236}">
                <a16:creationId xmlns:a16="http://schemas.microsoft.com/office/drawing/2014/main" id="{E645507D-1052-4E3D-8AE0-53BDED45F5F6}"/>
              </a:ext>
            </a:extLst>
          </p:cNvPr>
          <p:cNvSpPr>
            <a:spLocks noGrp="1"/>
          </p:cNvSpPr>
          <p:nvPr/>
        </p:nvSpPr>
        <p:spPr>
          <a:xfrm>
            <a:off x="9710698" y="3577752"/>
            <a:ext cx="371475" cy="409575"/>
          </a:xfrm>
          <a:prstGeom prst="rightArrow">
            <a:avLst/>
          </a:prstGeom>
          <a:solidFill>
            <a:srgbClr val="858585"/>
          </a:solidFill>
          <a:ln w="4763">
            <a:solidFill>
              <a:srgbClr val="85858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flow-arrow-1307-345">
            <a:extLst>
              <a:ext uri="{FF2B5EF4-FFF2-40B4-BE49-F238E27FC236}">
                <a16:creationId xmlns:a16="http://schemas.microsoft.com/office/drawing/2014/main" id="{18FC371E-F3D7-4ADA-8D1C-B561421E7EC7}"/>
              </a:ext>
            </a:extLst>
          </p:cNvPr>
          <p:cNvSpPr>
            <a:spLocks noGrp="1"/>
          </p:cNvSpPr>
          <p:nvPr/>
        </p:nvSpPr>
        <p:spPr>
          <a:xfrm>
            <a:off x="12863473" y="3577752"/>
            <a:ext cx="371475" cy="409575"/>
          </a:xfrm>
          <a:prstGeom prst="rightArrow">
            <a:avLst/>
          </a:prstGeom>
          <a:solidFill>
            <a:srgbClr val="858585"/>
          </a:solidFill>
          <a:ln w="4763">
            <a:solidFill>
              <a:srgbClr val="85858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flow-arrow-1616-345">
            <a:extLst>
              <a:ext uri="{FF2B5EF4-FFF2-40B4-BE49-F238E27FC236}">
                <a16:creationId xmlns:a16="http://schemas.microsoft.com/office/drawing/2014/main" id="{756F1FED-4BFB-4012-AE7D-FED6B204809B}"/>
              </a:ext>
            </a:extLst>
          </p:cNvPr>
          <p:cNvSpPr>
            <a:spLocks noGrp="1"/>
          </p:cNvSpPr>
          <p:nvPr/>
        </p:nvSpPr>
        <p:spPr>
          <a:xfrm>
            <a:off x="15806696" y="3577750"/>
            <a:ext cx="371475" cy="409575"/>
          </a:xfrm>
          <a:prstGeom prst="rightArrow">
            <a:avLst/>
          </a:prstGeom>
          <a:solidFill>
            <a:srgbClr val="858585"/>
          </a:solidFill>
          <a:ln w="4763">
            <a:solidFill>
              <a:srgbClr val="85858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tep2-role">
            <a:extLst>
              <a:ext uri="{FF2B5EF4-FFF2-40B4-BE49-F238E27FC236}">
                <a16:creationId xmlns:a16="http://schemas.microsoft.com/office/drawing/2014/main" id="{80AE534C-CBFF-4DD2-B512-9F949824F630}"/>
              </a:ext>
            </a:extLst>
          </p:cNvPr>
          <p:cNvSpPr>
            <a:spLocks noGrp="1"/>
          </p:cNvSpPr>
          <p:nvPr/>
        </p:nvSpPr>
        <p:spPr>
          <a:xfrm>
            <a:off x="3452771" y="3225325"/>
            <a:ext cx="3000375" cy="1133475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20955">
            <a:solidFill>
              <a:srgbClr val="0AA3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71" name="图片 670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557546" y="3320575"/>
            <a:ext cx="962025" cy="962025"/>
          </a:xfrm>
          <a:prstGeom prst="rect">
            <a:avLst/>
          </a:prstGeom>
        </p:spPr>
      </p:pic>
      <p:sp>
        <p:nvSpPr>
          <p:cNvPr id="39" name="step2-role-header">
            <a:extLst>
              <a:ext uri="{FF2B5EF4-FFF2-40B4-BE49-F238E27FC236}">
                <a16:creationId xmlns:a16="http://schemas.microsoft.com/office/drawing/2014/main" id="{3543107C-EFF0-4923-9DCF-19CBC66FDE47}"/>
              </a:ext>
            </a:extLst>
          </p:cNvPr>
          <p:cNvSpPr>
            <a:spLocks noGrp="1"/>
          </p:cNvSpPr>
          <p:nvPr/>
        </p:nvSpPr>
        <p:spPr>
          <a:xfrm>
            <a:off x="4529096" y="3320575"/>
            <a:ext cx="18383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425" b="1" i="0">
                <a:solidFill>
                  <a:srgbClr val="0AA3B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0AA3B5"/>
                </a:solidFill>
                <a:latin typeface="Times New Roman"/>
                <a:ea typeface="Times New Roman"/>
                <a:cs typeface="Times New Roman"/>
              </a:rPr>
              <a:t>Expert role definition</a:t>
            </a:r>
          </a:p>
        </p:txBody>
      </p:sp>
      <p:sp>
        <p:nvSpPr>
          <p:cNvPr id="40" name="step2-role-body">
            <a:extLst>
              <a:ext uri="{FF2B5EF4-FFF2-40B4-BE49-F238E27FC236}">
                <a16:creationId xmlns:a16="http://schemas.microsoft.com/office/drawing/2014/main" id="{CDE1DAC8-7E21-4380-95DB-7C746F54541F}"/>
              </a:ext>
            </a:extLst>
          </p:cNvPr>
          <p:cNvSpPr>
            <a:spLocks noGrp="1"/>
          </p:cNvSpPr>
          <p:nvPr/>
        </p:nvSpPr>
        <p:spPr>
          <a:xfrm>
            <a:off x="4529096" y="3615850"/>
            <a:ext cx="18383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heritage protection</a:t>
            </a:r>
          </a:p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heritage science and</a:t>
            </a:r>
          </a:p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science-of-science expertise</a:t>
            </a:r>
          </a:p>
        </p:txBody>
      </p:sp>
      <p:sp>
        <p:nvSpPr>
          <p:cNvPr id="41" name="step2-boundary">
            <a:extLst>
              <a:ext uri="{FF2B5EF4-FFF2-40B4-BE49-F238E27FC236}">
                <a16:creationId xmlns:a16="http://schemas.microsoft.com/office/drawing/2014/main" id="{EA1B63AA-E4B6-41D3-8107-DCD1E37B27FE}"/>
              </a:ext>
            </a:extLst>
          </p:cNvPr>
          <p:cNvSpPr>
            <a:spLocks noGrp="1"/>
          </p:cNvSpPr>
          <p:nvPr/>
        </p:nvSpPr>
        <p:spPr>
          <a:xfrm>
            <a:off x="6948448" y="3225327"/>
            <a:ext cx="2733675" cy="1133475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20955">
            <a:solidFill>
              <a:srgbClr val="0AA3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75" name="图片 674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7052652" y="3300854"/>
            <a:ext cx="842698" cy="1000125"/>
          </a:xfrm>
          <a:prstGeom prst="rect">
            <a:avLst/>
          </a:prstGeom>
        </p:spPr>
      </p:pic>
      <p:sp>
        <p:nvSpPr>
          <p:cNvPr id="43" name="step2-boundary-header">
            <a:extLst>
              <a:ext uri="{FF2B5EF4-FFF2-40B4-BE49-F238E27FC236}">
                <a16:creationId xmlns:a16="http://schemas.microsoft.com/office/drawing/2014/main" id="{E49DE7F6-8949-4C8F-970C-B20DAB187610}"/>
              </a:ext>
            </a:extLst>
          </p:cNvPr>
          <p:cNvSpPr>
            <a:spLocks noGrp="1"/>
          </p:cNvSpPr>
          <p:nvPr/>
        </p:nvSpPr>
        <p:spPr>
          <a:xfrm>
            <a:off x="7923927" y="3311110"/>
            <a:ext cx="173150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425" b="1" i="0">
                <a:solidFill>
                  <a:srgbClr val="0AA3B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0AA3B5"/>
                </a:solidFill>
                <a:latin typeface="Times New Roman"/>
                <a:ea typeface="Times New Roman"/>
                <a:cs typeface="Times New Roman"/>
              </a:rPr>
              <a:t>Task boundary</a:t>
            </a:r>
          </a:p>
        </p:txBody>
      </p:sp>
      <p:sp>
        <p:nvSpPr>
          <p:cNvPr id="44" name="step2-boundary-body">
            <a:extLst>
              <a:ext uri="{FF2B5EF4-FFF2-40B4-BE49-F238E27FC236}">
                <a16:creationId xmlns:a16="http://schemas.microsoft.com/office/drawing/2014/main" id="{EB0956FD-55E7-499F-9A42-91DD2D0978BF}"/>
              </a:ext>
            </a:extLst>
          </p:cNvPr>
          <p:cNvSpPr>
            <a:spLocks noGrp="1"/>
          </p:cNvSpPr>
          <p:nvPr/>
        </p:nvSpPr>
        <p:spPr>
          <a:xfrm>
            <a:off x="8034298" y="3625375"/>
            <a:ext cx="153352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code research agendas</a:t>
            </a:r>
          </a:p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not project quality</a:t>
            </a:r>
          </a:p>
        </p:txBody>
      </p:sp>
      <p:sp>
        <p:nvSpPr>
          <p:cNvPr id="45" name="step2-source-rule">
            <a:extLst>
              <a:ext uri="{FF2B5EF4-FFF2-40B4-BE49-F238E27FC236}">
                <a16:creationId xmlns:a16="http://schemas.microsoft.com/office/drawing/2014/main" id="{205831FD-ECC7-4413-8C50-7292847E75EE}"/>
              </a:ext>
            </a:extLst>
          </p:cNvPr>
          <p:cNvSpPr>
            <a:spLocks noGrp="1"/>
          </p:cNvSpPr>
          <p:nvPr/>
        </p:nvSpPr>
        <p:spPr>
          <a:xfrm>
            <a:off x="10110748" y="3225327"/>
            <a:ext cx="2733675" cy="1133475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20955">
            <a:solidFill>
              <a:srgbClr val="0AA3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79" name="图片 678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10148847" y="3306287"/>
            <a:ext cx="866775" cy="989254"/>
          </a:xfrm>
          <a:prstGeom prst="rect">
            <a:avLst/>
          </a:prstGeom>
        </p:spPr>
      </p:pic>
      <p:sp>
        <p:nvSpPr>
          <p:cNvPr id="47" name="step2-source-rule-header">
            <a:extLst>
              <a:ext uri="{FF2B5EF4-FFF2-40B4-BE49-F238E27FC236}">
                <a16:creationId xmlns:a16="http://schemas.microsoft.com/office/drawing/2014/main" id="{B582C84B-613C-46AC-8451-F5CAF5811B6D}"/>
              </a:ext>
            </a:extLst>
          </p:cNvPr>
          <p:cNvSpPr>
            <a:spLocks noGrp="1"/>
          </p:cNvSpPr>
          <p:nvPr/>
        </p:nvSpPr>
        <p:spPr>
          <a:xfrm>
            <a:off x="10844306" y="3271476"/>
            <a:ext cx="2020878" cy="3172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425" b="1" i="0">
                <a:solidFill>
                  <a:srgbClr val="0AA3B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0AA3B5"/>
                </a:solidFill>
                <a:latin typeface="Times New Roman"/>
                <a:ea typeface="Times New Roman"/>
                <a:cs typeface="Times New Roman"/>
              </a:rPr>
              <a:t>Expert role definition</a:t>
            </a:r>
          </a:p>
        </p:txBody>
      </p:sp>
      <p:sp>
        <p:nvSpPr>
          <p:cNvPr id="48" name="step2-source-rule-body">
            <a:extLst>
              <a:ext uri="{FF2B5EF4-FFF2-40B4-BE49-F238E27FC236}">
                <a16:creationId xmlns:a16="http://schemas.microsoft.com/office/drawing/2014/main" id="{0125EAF3-39B7-4E0B-8235-836D875AED33}"/>
              </a:ext>
            </a:extLst>
          </p:cNvPr>
          <p:cNvSpPr>
            <a:spLocks noGrp="1"/>
          </p:cNvSpPr>
          <p:nvPr/>
        </p:nvSpPr>
        <p:spPr>
          <a:xfrm>
            <a:off x="11082295" y="3624267"/>
            <a:ext cx="160020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use only project text</a:t>
            </a:r>
          </a:p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and retained meta data</a:t>
            </a:r>
          </a:p>
        </p:txBody>
      </p:sp>
      <p:sp>
        <p:nvSpPr>
          <p:cNvPr id="49" name="step2-independence">
            <a:extLst>
              <a:ext uri="{FF2B5EF4-FFF2-40B4-BE49-F238E27FC236}">
                <a16:creationId xmlns:a16="http://schemas.microsoft.com/office/drawing/2014/main" id="{CA2D2F66-1789-4F6D-BA58-2FF9DA7FF8AE}"/>
              </a:ext>
            </a:extLst>
          </p:cNvPr>
          <p:cNvSpPr>
            <a:spLocks noGrp="1"/>
          </p:cNvSpPr>
          <p:nvPr/>
        </p:nvSpPr>
        <p:spPr>
          <a:xfrm>
            <a:off x="13253998" y="3225327"/>
            <a:ext cx="2524125" cy="1133475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20955">
            <a:solidFill>
              <a:srgbClr val="0AA3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83" name="图片 682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3377821" y="3339625"/>
            <a:ext cx="666750" cy="914400"/>
          </a:xfrm>
          <a:prstGeom prst="rect">
            <a:avLst/>
          </a:prstGeom>
        </p:spPr>
      </p:pic>
      <p:sp>
        <p:nvSpPr>
          <p:cNvPr id="51" name="step2-independence-header">
            <a:extLst>
              <a:ext uri="{FF2B5EF4-FFF2-40B4-BE49-F238E27FC236}">
                <a16:creationId xmlns:a16="http://schemas.microsoft.com/office/drawing/2014/main" id="{7A9CB87D-83DD-460A-A4DA-D5C96FFB9962}"/>
              </a:ext>
            </a:extLst>
          </p:cNvPr>
          <p:cNvSpPr>
            <a:spLocks noGrp="1"/>
          </p:cNvSpPr>
          <p:nvPr/>
        </p:nvSpPr>
        <p:spPr>
          <a:xfrm>
            <a:off x="13909643" y="3301526"/>
            <a:ext cx="1773228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425" b="1" i="0">
                <a:solidFill>
                  <a:srgbClr val="0AA3B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AA3B5"/>
                </a:solidFill>
                <a:latin typeface="Times New Roman"/>
                <a:ea typeface="Times New Roman"/>
                <a:cs typeface="Times New Roman"/>
              </a:rPr>
              <a:t>Independence rule</a:t>
            </a:r>
          </a:p>
        </p:txBody>
      </p:sp>
      <p:sp>
        <p:nvSpPr>
          <p:cNvPr id="52" name="step2-independence-body">
            <a:extLst>
              <a:ext uri="{FF2B5EF4-FFF2-40B4-BE49-F238E27FC236}">
                <a16:creationId xmlns:a16="http://schemas.microsoft.com/office/drawing/2014/main" id="{7B3D718D-D8B7-4FB9-A94D-E7A7D46CF4D5}"/>
              </a:ext>
            </a:extLst>
          </p:cNvPr>
          <p:cNvSpPr>
            <a:spLocks noGrp="1"/>
          </p:cNvSpPr>
          <p:nvPr/>
        </p:nvSpPr>
        <p:spPr>
          <a:xfrm>
            <a:off x="14063621" y="3625375"/>
            <a:ext cx="1619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project per request</a:t>
            </a:r>
          </a:p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 cross-project</a:t>
            </a:r>
          </a:p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memory</a:t>
            </a:r>
          </a:p>
        </p:txBody>
      </p:sp>
      <p:sp>
        <p:nvSpPr>
          <p:cNvPr id="53" name="step2-injection">
            <a:extLst>
              <a:ext uri="{FF2B5EF4-FFF2-40B4-BE49-F238E27FC236}">
                <a16:creationId xmlns:a16="http://schemas.microsoft.com/office/drawing/2014/main" id="{0BF955E0-790D-441D-9FB9-3F17B6A760FA}"/>
              </a:ext>
            </a:extLst>
          </p:cNvPr>
          <p:cNvSpPr>
            <a:spLocks noGrp="1"/>
          </p:cNvSpPr>
          <p:nvPr/>
        </p:nvSpPr>
        <p:spPr>
          <a:xfrm>
            <a:off x="16235321" y="3225325"/>
            <a:ext cx="2638425" cy="1133475"/>
          </a:xfrm>
          <a:prstGeom prst="roundRect">
            <a:avLst>
              <a:gd name="adj" fmla="val 8403"/>
            </a:avLst>
          </a:prstGeom>
          <a:solidFill>
            <a:srgbClr val="FFFFFF"/>
          </a:solidFill>
          <a:ln w="20955">
            <a:solidFill>
              <a:srgbClr val="0AA3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tep2-injection-header">
            <a:extLst>
              <a:ext uri="{FF2B5EF4-FFF2-40B4-BE49-F238E27FC236}">
                <a16:creationId xmlns:a16="http://schemas.microsoft.com/office/drawing/2014/main" id="{233C8A36-C577-4795-AD7A-EAB1EA362B75}"/>
              </a:ext>
            </a:extLst>
          </p:cNvPr>
          <p:cNvSpPr>
            <a:spLocks noGrp="1"/>
          </p:cNvSpPr>
          <p:nvPr/>
        </p:nvSpPr>
        <p:spPr>
          <a:xfrm>
            <a:off x="17087808" y="3301526"/>
            <a:ext cx="1700213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425" b="1" i="0">
                <a:solidFill>
                  <a:srgbClr val="0AA3B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0AA3B5"/>
                </a:solidFill>
                <a:latin typeface="Times New Roman"/>
                <a:ea typeface="Times New Roman"/>
                <a:cs typeface="Times New Roman"/>
              </a:rPr>
              <a:t>Anti-injection rule</a:t>
            </a:r>
          </a:p>
        </p:txBody>
      </p:sp>
      <p:sp>
        <p:nvSpPr>
          <p:cNvPr id="56" name="step2-injection-body">
            <a:extLst>
              <a:ext uri="{FF2B5EF4-FFF2-40B4-BE49-F238E27FC236}">
                <a16:creationId xmlns:a16="http://schemas.microsoft.com/office/drawing/2014/main" id="{6827BE4A-784F-483B-A19B-7DADC983C54B}"/>
              </a:ext>
            </a:extLst>
          </p:cNvPr>
          <p:cNvSpPr>
            <a:spLocks noGrp="1"/>
          </p:cNvSpPr>
          <p:nvPr/>
        </p:nvSpPr>
        <p:spPr>
          <a:xfrm>
            <a:off x="17187821" y="3630300"/>
            <a:ext cx="155257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project text is data</a:t>
            </a:r>
          </a:p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not instruction</a:t>
            </a:r>
          </a:p>
        </p:txBody>
      </p:sp>
      <p:sp>
        <p:nvSpPr>
          <p:cNvPr id="57" name="band-Step 3. Fixed coding manual and schema grounding">
            <a:extLst>
              <a:ext uri="{FF2B5EF4-FFF2-40B4-BE49-F238E27FC236}">
                <a16:creationId xmlns:a16="http://schemas.microsoft.com/office/drawing/2014/main" id="{754FABC5-BFFD-47E2-B3F0-2C29B38749C4}"/>
              </a:ext>
            </a:extLst>
          </p:cNvPr>
          <p:cNvSpPr>
            <a:spLocks noGrp="1"/>
          </p:cNvSpPr>
          <p:nvPr/>
        </p:nvSpPr>
        <p:spPr>
          <a:xfrm>
            <a:off x="566696" y="4539775"/>
            <a:ext cx="18745200" cy="1590675"/>
          </a:xfrm>
          <a:prstGeom prst="roundRect">
            <a:avLst>
              <a:gd name="adj" fmla="val 10778"/>
            </a:avLst>
          </a:prstGeom>
          <a:noFill/>
          <a:ln w="23813">
            <a:solidFill>
              <a:srgbClr val="F06424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itle-Step 3. Fixed coding manual and schema grounding">
            <a:extLst>
              <a:ext uri="{FF2B5EF4-FFF2-40B4-BE49-F238E27FC236}">
                <a16:creationId xmlns:a16="http://schemas.microsoft.com/office/drawing/2014/main" id="{8F6AE170-76E2-4F62-A79E-066E9AE04C0F}"/>
              </a:ext>
            </a:extLst>
          </p:cNvPr>
          <p:cNvSpPr>
            <a:spLocks noGrp="1"/>
          </p:cNvSpPr>
          <p:nvPr/>
        </p:nvSpPr>
        <p:spPr>
          <a:xfrm>
            <a:off x="4510046" y="4539775"/>
            <a:ext cx="1076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5908"/>
          </a:bodyPr>
          <a:lstStyle/>
          <a:p>
            <a:pPr algn="ctr">
              <a:lnSpc>
                <a:spcPct val="92000"/>
              </a:lnSpc>
              <a:buNone/>
              <a:defRPr sz="2550" b="1" i="0">
                <a:solidFill>
                  <a:srgbClr val="F06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dirty="0">
                <a:solidFill>
                  <a:srgbClr val="F06424"/>
                </a:solidFill>
                <a:latin typeface="Times New Roman"/>
                <a:ea typeface="Times New Roman"/>
                <a:cs typeface="Times New Roman"/>
              </a:rPr>
              <a:t>Step 3. Fixed coding manual and schema grounding</a:t>
            </a:r>
          </a:p>
        </p:txBody>
      </p:sp>
      <p:pic>
        <p:nvPicPr>
          <p:cNvPr id="692" name="图片 691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732866" y="4613587"/>
            <a:ext cx="1250403" cy="1343025"/>
          </a:xfrm>
          <a:prstGeom prst="rect">
            <a:avLst/>
          </a:prstGeom>
        </p:spPr>
      </p:pic>
      <p:sp>
        <p:nvSpPr>
          <p:cNvPr id="60" name="flow-arrow-454-523">
            <a:extLst>
              <a:ext uri="{FF2B5EF4-FFF2-40B4-BE49-F238E27FC236}">
                <a16:creationId xmlns:a16="http://schemas.microsoft.com/office/drawing/2014/main" id="{4E34E975-66BB-4A45-AD0E-B539179001F7}"/>
              </a:ext>
            </a:extLst>
          </p:cNvPr>
          <p:cNvSpPr>
            <a:spLocks noGrp="1"/>
          </p:cNvSpPr>
          <p:nvPr/>
        </p:nvSpPr>
        <p:spPr>
          <a:xfrm>
            <a:off x="4738646" y="5273200"/>
            <a:ext cx="361950" cy="400050"/>
          </a:xfrm>
          <a:prstGeom prst="rightArrow">
            <a:avLst/>
          </a:prstGeom>
          <a:solidFill>
            <a:srgbClr val="858585"/>
          </a:solidFill>
          <a:ln w="4763">
            <a:solidFill>
              <a:srgbClr val="85858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flow-arrow-713-523">
            <a:extLst>
              <a:ext uri="{FF2B5EF4-FFF2-40B4-BE49-F238E27FC236}">
                <a16:creationId xmlns:a16="http://schemas.microsoft.com/office/drawing/2014/main" id="{E45BE4F0-7A37-421F-956D-59A654877E2A}"/>
              </a:ext>
            </a:extLst>
          </p:cNvPr>
          <p:cNvSpPr>
            <a:spLocks noGrp="1"/>
          </p:cNvSpPr>
          <p:nvPr/>
        </p:nvSpPr>
        <p:spPr>
          <a:xfrm>
            <a:off x="7205621" y="5273200"/>
            <a:ext cx="361950" cy="400050"/>
          </a:xfrm>
          <a:prstGeom prst="rightArrow">
            <a:avLst/>
          </a:prstGeom>
          <a:solidFill>
            <a:srgbClr val="858585"/>
          </a:solidFill>
          <a:ln w="4763">
            <a:solidFill>
              <a:srgbClr val="85858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flow-arrow-978-523">
            <a:extLst>
              <a:ext uri="{FF2B5EF4-FFF2-40B4-BE49-F238E27FC236}">
                <a16:creationId xmlns:a16="http://schemas.microsoft.com/office/drawing/2014/main" id="{44FAADDC-DF48-42AD-9AFD-E20B2C7426C8}"/>
              </a:ext>
            </a:extLst>
          </p:cNvPr>
          <p:cNvSpPr>
            <a:spLocks noGrp="1"/>
          </p:cNvSpPr>
          <p:nvPr/>
        </p:nvSpPr>
        <p:spPr>
          <a:xfrm>
            <a:off x="9729746" y="5273200"/>
            <a:ext cx="361950" cy="400050"/>
          </a:xfrm>
          <a:prstGeom prst="rightArrow">
            <a:avLst/>
          </a:prstGeom>
          <a:solidFill>
            <a:srgbClr val="858585"/>
          </a:solidFill>
          <a:ln w="4763">
            <a:solidFill>
              <a:srgbClr val="85858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flow-arrow-1235-523">
            <a:extLst>
              <a:ext uri="{FF2B5EF4-FFF2-40B4-BE49-F238E27FC236}">
                <a16:creationId xmlns:a16="http://schemas.microsoft.com/office/drawing/2014/main" id="{4FC97E4B-F9E4-446B-89D4-792BB60E8356}"/>
              </a:ext>
            </a:extLst>
          </p:cNvPr>
          <p:cNvSpPr>
            <a:spLocks noGrp="1"/>
          </p:cNvSpPr>
          <p:nvPr/>
        </p:nvSpPr>
        <p:spPr>
          <a:xfrm>
            <a:off x="12177671" y="5273200"/>
            <a:ext cx="361950" cy="400050"/>
          </a:xfrm>
          <a:prstGeom prst="rightArrow">
            <a:avLst/>
          </a:prstGeom>
          <a:solidFill>
            <a:srgbClr val="858585"/>
          </a:solidFill>
          <a:ln w="4763">
            <a:solidFill>
              <a:srgbClr val="85858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tep3-closed">
            <a:extLst>
              <a:ext uri="{FF2B5EF4-FFF2-40B4-BE49-F238E27FC236}">
                <a16:creationId xmlns:a16="http://schemas.microsoft.com/office/drawing/2014/main" id="{63D5D9A2-52D1-4128-9AD0-31DCC0DEDA28}"/>
              </a:ext>
            </a:extLst>
          </p:cNvPr>
          <p:cNvSpPr>
            <a:spLocks noGrp="1"/>
          </p:cNvSpPr>
          <p:nvPr/>
        </p:nvSpPr>
        <p:spPr>
          <a:xfrm>
            <a:off x="2233571" y="4892200"/>
            <a:ext cx="247650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0955">
            <a:solidFill>
              <a:srgbClr val="F064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98" name="图片 697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2281196" y="5079525"/>
            <a:ext cx="704850" cy="873617"/>
          </a:xfrm>
          <a:prstGeom prst="rect">
            <a:avLst/>
          </a:prstGeom>
        </p:spPr>
      </p:pic>
      <p:sp>
        <p:nvSpPr>
          <p:cNvPr id="66" name="step3-closed-header">
            <a:extLst>
              <a:ext uri="{FF2B5EF4-FFF2-40B4-BE49-F238E27FC236}">
                <a16:creationId xmlns:a16="http://schemas.microsoft.com/office/drawing/2014/main" id="{DB154EE9-821C-4E8E-BF62-B30A2E32778F}"/>
              </a:ext>
            </a:extLst>
          </p:cNvPr>
          <p:cNvSpPr>
            <a:spLocks noGrp="1"/>
          </p:cNvSpPr>
          <p:nvPr/>
        </p:nvSpPr>
        <p:spPr>
          <a:xfrm>
            <a:off x="2238612" y="4931095"/>
            <a:ext cx="2542617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350" b="1" i="0">
                <a:solidFill>
                  <a:srgbClr val="F06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F06424"/>
                </a:solidFill>
                <a:latin typeface="Times New Roman"/>
                <a:ea typeface="Times New Roman"/>
                <a:cs typeface="Times New Roman"/>
              </a:rPr>
              <a:t>Closed coding dimensions</a:t>
            </a:r>
          </a:p>
        </p:txBody>
      </p:sp>
      <p:sp>
        <p:nvSpPr>
          <p:cNvPr id="67" name="step3-closed-body">
            <a:extLst>
              <a:ext uri="{FF2B5EF4-FFF2-40B4-BE49-F238E27FC236}">
                <a16:creationId xmlns:a16="http://schemas.microsoft.com/office/drawing/2014/main" id="{8857CBDA-0381-4030-A70B-494616641988}"/>
              </a:ext>
            </a:extLst>
          </p:cNvPr>
          <p:cNvSpPr>
            <a:spLocks noGrp="1"/>
          </p:cNvSpPr>
          <p:nvPr/>
        </p:nvSpPr>
        <p:spPr>
          <a:xfrm>
            <a:off x="2762369" y="5168425"/>
            <a:ext cx="2038349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heritage categories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methods, scales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stakeholder, outcomes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turns and functions</a:t>
            </a:r>
          </a:p>
        </p:txBody>
      </p:sp>
      <p:sp>
        <p:nvSpPr>
          <p:cNvPr id="68" name="step3-single">
            <a:extLst>
              <a:ext uri="{FF2B5EF4-FFF2-40B4-BE49-F238E27FC236}">
                <a16:creationId xmlns:a16="http://schemas.microsoft.com/office/drawing/2014/main" id="{05195CC9-F98B-40B8-BC58-F4305D3339C4}"/>
              </a:ext>
            </a:extLst>
          </p:cNvPr>
          <p:cNvSpPr>
            <a:spLocks noGrp="1"/>
          </p:cNvSpPr>
          <p:nvPr/>
        </p:nvSpPr>
        <p:spPr>
          <a:xfrm>
            <a:off x="5129171" y="4892200"/>
            <a:ext cx="203835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0955">
            <a:solidFill>
              <a:srgbClr val="F064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tep3-single-header">
            <a:extLst>
              <a:ext uri="{FF2B5EF4-FFF2-40B4-BE49-F238E27FC236}">
                <a16:creationId xmlns:a16="http://schemas.microsoft.com/office/drawing/2014/main" id="{A53B3A76-FC60-4657-B6FF-B170CBC7F690}"/>
              </a:ext>
            </a:extLst>
          </p:cNvPr>
          <p:cNvSpPr>
            <a:spLocks noGrp="1"/>
          </p:cNvSpPr>
          <p:nvPr/>
        </p:nvSpPr>
        <p:spPr>
          <a:xfrm>
            <a:off x="5366506" y="4945255"/>
            <a:ext cx="1811333" cy="1882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350" b="1" i="0">
                <a:solidFill>
                  <a:srgbClr val="F06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F06424"/>
                </a:solidFill>
                <a:latin typeface="Times New Roman"/>
                <a:ea typeface="Times New Roman"/>
                <a:cs typeface="Times New Roman"/>
              </a:rPr>
              <a:t>Single-label fields</a:t>
            </a:r>
          </a:p>
        </p:txBody>
      </p:sp>
      <p:sp>
        <p:nvSpPr>
          <p:cNvPr id="70" name="step3-single-body">
            <a:extLst>
              <a:ext uri="{FF2B5EF4-FFF2-40B4-BE49-F238E27FC236}">
                <a16:creationId xmlns:a16="http://schemas.microsoft.com/office/drawing/2014/main" id="{52EF0E22-5377-44D1-9C4A-C619660146F7}"/>
              </a:ext>
            </a:extLst>
          </p:cNvPr>
          <p:cNvSpPr>
            <a:spLocks noGrp="1"/>
          </p:cNvSpPr>
          <p:nvPr/>
        </p:nvSpPr>
        <p:spPr>
          <a:xfrm>
            <a:off x="5518907" y="5235102"/>
            <a:ext cx="1650199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primary category or</a:t>
            </a:r>
          </a:p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ore</a:t>
            </a:r>
            <a:r>
              <a:rPr lang="en-US"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dimensions</a:t>
            </a:r>
          </a:p>
        </p:txBody>
      </p:sp>
      <p:sp>
        <p:nvSpPr>
          <p:cNvPr id="71" name="step3-single-radio-1">
            <a:extLst>
              <a:ext uri="{FF2B5EF4-FFF2-40B4-BE49-F238E27FC236}">
                <a16:creationId xmlns:a16="http://schemas.microsoft.com/office/drawing/2014/main" id="{C9BECEA0-095E-4C36-963E-D4F8990754D3}"/>
              </a:ext>
            </a:extLst>
          </p:cNvPr>
          <p:cNvSpPr>
            <a:spLocks noGrp="1"/>
          </p:cNvSpPr>
          <p:nvPr/>
        </p:nvSpPr>
        <p:spPr>
          <a:xfrm>
            <a:off x="5243471" y="4977925"/>
            <a:ext cx="228600" cy="2286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step3-single-radio-2">
            <a:extLst>
              <a:ext uri="{FF2B5EF4-FFF2-40B4-BE49-F238E27FC236}">
                <a16:creationId xmlns:a16="http://schemas.microsoft.com/office/drawing/2014/main" id="{94AB7E93-B058-4945-8B1F-5DADA05B43FB}"/>
              </a:ext>
            </a:extLst>
          </p:cNvPr>
          <p:cNvSpPr>
            <a:spLocks noGrp="1"/>
          </p:cNvSpPr>
          <p:nvPr/>
        </p:nvSpPr>
        <p:spPr>
          <a:xfrm>
            <a:off x="5243471" y="5320825"/>
            <a:ext cx="228600" cy="2286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step3-single-radio-2-dot">
            <a:extLst>
              <a:ext uri="{FF2B5EF4-FFF2-40B4-BE49-F238E27FC236}">
                <a16:creationId xmlns:a16="http://schemas.microsoft.com/office/drawing/2014/main" id="{705796AC-1F47-426C-8753-EA1A82C9533D}"/>
              </a:ext>
            </a:extLst>
          </p:cNvPr>
          <p:cNvSpPr>
            <a:spLocks noGrp="1"/>
          </p:cNvSpPr>
          <p:nvPr/>
        </p:nvSpPr>
        <p:spPr>
          <a:xfrm>
            <a:off x="5300621" y="5377975"/>
            <a:ext cx="114300" cy="114300"/>
          </a:xfrm>
          <a:prstGeom prst="ellipse">
            <a:avLst/>
          </a:prstGeom>
          <a:solidFill>
            <a:srgbClr val="555555"/>
          </a:solidFill>
          <a:ln w="4763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step3-single-radio-3">
            <a:extLst>
              <a:ext uri="{FF2B5EF4-FFF2-40B4-BE49-F238E27FC236}">
                <a16:creationId xmlns:a16="http://schemas.microsoft.com/office/drawing/2014/main" id="{38F468C6-0557-4AA4-BF8A-326D68EDCD05}"/>
              </a:ext>
            </a:extLst>
          </p:cNvPr>
          <p:cNvSpPr>
            <a:spLocks noGrp="1"/>
          </p:cNvSpPr>
          <p:nvPr/>
        </p:nvSpPr>
        <p:spPr>
          <a:xfrm>
            <a:off x="5243471" y="5663725"/>
            <a:ext cx="228600" cy="2286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step3-multi">
            <a:extLst>
              <a:ext uri="{FF2B5EF4-FFF2-40B4-BE49-F238E27FC236}">
                <a16:creationId xmlns:a16="http://schemas.microsoft.com/office/drawing/2014/main" id="{1A33815E-A8D6-4D2C-8191-B3E0EABF96AF}"/>
              </a:ext>
            </a:extLst>
          </p:cNvPr>
          <p:cNvSpPr>
            <a:spLocks noGrp="1"/>
          </p:cNvSpPr>
          <p:nvPr/>
        </p:nvSpPr>
        <p:spPr>
          <a:xfrm>
            <a:off x="7596148" y="4892200"/>
            <a:ext cx="2105025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0955">
            <a:solidFill>
              <a:srgbClr val="F064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09" name="图片 708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7704133" y="5016025"/>
            <a:ext cx="496335" cy="895350"/>
          </a:xfrm>
          <a:prstGeom prst="rect">
            <a:avLst/>
          </a:prstGeom>
        </p:spPr>
      </p:pic>
      <p:sp>
        <p:nvSpPr>
          <p:cNvPr id="77" name="step3-multi-header">
            <a:extLst>
              <a:ext uri="{FF2B5EF4-FFF2-40B4-BE49-F238E27FC236}">
                <a16:creationId xmlns:a16="http://schemas.microsoft.com/office/drawing/2014/main" id="{45EB3FE3-F25C-41E0-87DC-3219095B86A9}"/>
              </a:ext>
            </a:extLst>
          </p:cNvPr>
          <p:cNvSpPr>
            <a:spLocks noGrp="1"/>
          </p:cNvSpPr>
          <p:nvPr/>
        </p:nvSpPr>
        <p:spPr>
          <a:xfrm>
            <a:off x="8114850" y="4945255"/>
            <a:ext cx="1586323" cy="1882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350" b="1" i="0">
                <a:solidFill>
                  <a:srgbClr val="F06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F06424"/>
                </a:solidFill>
                <a:latin typeface="Times New Roman"/>
                <a:ea typeface="Times New Roman"/>
                <a:cs typeface="Times New Roman"/>
              </a:rPr>
              <a:t>Multi-label fields</a:t>
            </a:r>
          </a:p>
        </p:txBody>
      </p:sp>
      <p:sp>
        <p:nvSpPr>
          <p:cNvPr id="78" name="step3-multi-body">
            <a:extLst>
              <a:ext uri="{FF2B5EF4-FFF2-40B4-BE49-F238E27FC236}">
                <a16:creationId xmlns:a16="http://schemas.microsoft.com/office/drawing/2014/main" id="{C5899A67-D2B7-456E-85F5-C686B00B34B2}"/>
              </a:ext>
            </a:extLst>
          </p:cNvPr>
          <p:cNvSpPr>
            <a:spLocks noGrp="1"/>
          </p:cNvSpPr>
          <p:nvPr/>
        </p:nvSpPr>
        <p:spPr>
          <a:xfrm>
            <a:off x="8219518" y="5206525"/>
            <a:ext cx="140545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tags for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co-occurrence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and secondary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dimensions</a:t>
            </a:r>
          </a:p>
        </p:txBody>
      </p:sp>
      <p:sp>
        <p:nvSpPr>
          <p:cNvPr id="79" name="step3-phrases">
            <a:extLst>
              <a:ext uri="{FF2B5EF4-FFF2-40B4-BE49-F238E27FC236}">
                <a16:creationId xmlns:a16="http://schemas.microsoft.com/office/drawing/2014/main" id="{F247028B-56E4-4AF4-B5F7-ED775BA8E49C}"/>
              </a:ext>
            </a:extLst>
          </p:cNvPr>
          <p:cNvSpPr>
            <a:spLocks noGrp="1"/>
          </p:cNvSpPr>
          <p:nvPr/>
        </p:nvSpPr>
        <p:spPr>
          <a:xfrm>
            <a:off x="10110746" y="4892200"/>
            <a:ext cx="2038350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0955">
            <a:solidFill>
              <a:srgbClr val="F064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13" name="图片 712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148847" y="5049357"/>
            <a:ext cx="847725" cy="895350"/>
          </a:xfrm>
          <a:prstGeom prst="rect">
            <a:avLst/>
          </a:prstGeom>
        </p:spPr>
      </p:pic>
      <p:sp>
        <p:nvSpPr>
          <p:cNvPr id="81" name="step3-phrases-header">
            <a:extLst>
              <a:ext uri="{FF2B5EF4-FFF2-40B4-BE49-F238E27FC236}">
                <a16:creationId xmlns:a16="http://schemas.microsoft.com/office/drawing/2014/main" id="{DBE40995-14DD-4CE3-8DEB-CAD9D6246019}"/>
              </a:ext>
            </a:extLst>
          </p:cNvPr>
          <p:cNvSpPr>
            <a:spLocks noGrp="1"/>
          </p:cNvSpPr>
          <p:nvPr/>
        </p:nvSpPr>
        <p:spPr>
          <a:xfrm>
            <a:off x="10653674" y="4945255"/>
            <a:ext cx="1552571" cy="18821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350" b="1" i="0">
                <a:solidFill>
                  <a:srgbClr val="F06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F06424"/>
                </a:solidFill>
                <a:latin typeface="Times New Roman"/>
                <a:ea typeface="Times New Roman"/>
                <a:cs typeface="Times New Roman"/>
              </a:rPr>
              <a:t>Evidence phrases</a:t>
            </a:r>
          </a:p>
        </p:txBody>
      </p:sp>
      <p:sp>
        <p:nvSpPr>
          <p:cNvPr id="82" name="step3-phrases-body">
            <a:extLst>
              <a:ext uri="{FF2B5EF4-FFF2-40B4-BE49-F238E27FC236}">
                <a16:creationId xmlns:a16="http://schemas.microsoft.com/office/drawing/2014/main" id="{A139BC8B-821B-46BE-AF6F-A661BDF64BBA}"/>
              </a:ext>
            </a:extLst>
          </p:cNvPr>
          <p:cNvSpPr>
            <a:spLocks noGrp="1"/>
          </p:cNvSpPr>
          <p:nvPr/>
        </p:nvSpPr>
        <p:spPr>
          <a:xfrm>
            <a:off x="10664793" y="5220814"/>
            <a:ext cx="1293804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direct phrases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retained for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traceability</a:t>
            </a:r>
          </a:p>
        </p:txBody>
      </p:sp>
      <p:sp>
        <p:nvSpPr>
          <p:cNvPr id="83" name="step3-json">
            <a:extLst>
              <a:ext uri="{FF2B5EF4-FFF2-40B4-BE49-F238E27FC236}">
                <a16:creationId xmlns:a16="http://schemas.microsoft.com/office/drawing/2014/main" id="{A4B31C45-DFD5-45FF-8283-A086BFB3E61C}"/>
              </a:ext>
            </a:extLst>
          </p:cNvPr>
          <p:cNvSpPr>
            <a:spLocks noGrp="1"/>
          </p:cNvSpPr>
          <p:nvPr/>
        </p:nvSpPr>
        <p:spPr>
          <a:xfrm>
            <a:off x="12539623" y="4892200"/>
            <a:ext cx="2162175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0955">
            <a:solidFill>
              <a:srgbClr val="F064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step3-json-header">
            <a:extLst>
              <a:ext uri="{FF2B5EF4-FFF2-40B4-BE49-F238E27FC236}">
                <a16:creationId xmlns:a16="http://schemas.microsoft.com/office/drawing/2014/main" id="{1BA274B3-DCBB-4ABD-A436-75396416F561}"/>
              </a:ext>
            </a:extLst>
          </p:cNvPr>
          <p:cNvSpPr>
            <a:spLocks noGrp="1"/>
          </p:cNvSpPr>
          <p:nvPr/>
        </p:nvSpPr>
        <p:spPr>
          <a:xfrm>
            <a:off x="12832517" y="4918727"/>
            <a:ext cx="1944545" cy="2422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350" b="1" i="0">
                <a:solidFill>
                  <a:srgbClr val="F06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F06424"/>
                </a:solidFill>
                <a:latin typeface="Times New Roman"/>
                <a:ea typeface="Times New Roman"/>
                <a:cs typeface="Times New Roman"/>
              </a:rPr>
              <a:t>Strict JSON schema</a:t>
            </a:r>
          </a:p>
        </p:txBody>
      </p:sp>
      <p:sp>
        <p:nvSpPr>
          <p:cNvPr id="86" name="step3-json-body">
            <a:extLst>
              <a:ext uri="{FF2B5EF4-FFF2-40B4-BE49-F238E27FC236}">
                <a16:creationId xmlns:a16="http://schemas.microsoft.com/office/drawing/2014/main" id="{9817F67B-877F-4EE8-AF90-DAD5A47B2567}"/>
              </a:ext>
            </a:extLst>
          </p:cNvPr>
          <p:cNvSpPr>
            <a:spLocks noGrp="1"/>
          </p:cNvSpPr>
          <p:nvPr/>
        </p:nvSpPr>
        <p:spPr>
          <a:xfrm>
            <a:off x="13109609" y="5225577"/>
            <a:ext cx="1515988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 err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parsable</a:t>
            </a: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 output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 confidence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and review flags</a:t>
            </a:r>
          </a:p>
        </p:txBody>
      </p:sp>
      <p:sp>
        <p:nvSpPr>
          <p:cNvPr id="87" name="step3-manual-reading-label">
            <a:extLst>
              <a:ext uri="{FF2B5EF4-FFF2-40B4-BE49-F238E27FC236}">
                <a16:creationId xmlns:a16="http://schemas.microsoft.com/office/drawing/2014/main" id="{86C9D131-E57A-409E-86CC-D061EF7C40C6}"/>
              </a:ext>
            </a:extLst>
          </p:cNvPr>
          <p:cNvSpPr>
            <a:spLocks noGrp="1"/>
          </p:cNvSpPr>
          <p:nvPr/>
        </p:nvSpPr>
        <p:spPr>
          <a:xfrm>
            <a:off x="15320921" y="4596925"/>
            <a:ext cx="3257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425" b="1" i="0">
                <a:solidFill>
                  <a:srgbClr val="F06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F06424"/>
                </a:solidFill>
                <a:latin typeface="Times New Roman"/>
                <a:ea typeface="Times New Roman"/>
                <a:cs typeface="Times New Roman"/>
              </a:rPr>
              <a:t>How the LLM reads the manual</a:t>
            </a:r>
          </a:p>
        </p:txBody>
      </p:sp>
      <p:sp>
        <p:nvSpPr>
          <p:cNvPr id="88" name="step3-role">
            <a:extLst>
              <a:ext uri="{FF2B5EF4-FFF2-40B4-BE49-F238E27FC236}">
                <a16:creationId xmlns:a16="http://schemas.microsoft.com/office/drawing/2014/main" id="{A2A7BB6B-1197-4D47-BED8-4D176E01693E}"/>
              </a:ext>
            </a:extLst>
          </p:cNvPr>
          <p:cNvSpPr>
            <a:spLocks noGrp="1"/>
          </p:cNvSpPr>
          <p:nvPr/>
        </p:nvSpPr>
        <p:spPr>
          <a:xfrm>
            <a:off x="14846302" y="4892200"/>
            <a:ext cx="1365207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0003">
            <a:solidFill>
              <a:srgbClr val="F064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step3-role-title">
            <a:extLst>
              <a:ext uri="{FF2B5EF4-FFF2-40B4-BE49-F238E27FC236}">
                <a16:creationId xmlns:a16="http://schemas.microsoft.com/office/drawing/2014/main" id="{7689BC7F-A268-4806-AE1E-3C744743EA06}"/>
              </a:ext>
            </a:extLst>
          </p:cNvPr>
          <p:cNvSpPr>
            <a:spLocks noGrp="1"/>
          </p:cNvSpPr>
          <p:nvPr/>
        </p:nvSpPr>
        <p:spPr>
          <a:xfrm>
            <a:off x="15116045" y="4972972"/>
            <a:ext cx="956294" cy="1954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2500" lnSpcReduction="20000"/>
          </a:bodyPr>
          <a:lstStyle/>
          <a:p>
            <a:pPr algn="ctr">
              <a:lnSpc>
                <a:spcPct val="92000"/>
              </a:lnSpc>
              <a:buNone/>
              <a:defRPr sz="1350" b="1" i="0">
                <a:solidFill>
                  <a:srgbClr val="F06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F06424"/>
                </a:solidFill>
                <a:latin typeface="Times New Roman"/>
                <a:ea typeface="Times New Roman"/>
                <a:cs typeface="Times New Roman"/>
              </a:rPr>
              <a:t>Role</a:t>
            </a:r>
          </a:p>
        </p:txBody>
      </p:sp>
      <p:sp>
        <p:nvSpPr>
          <p:cNvPr id="91" name="step3-role-body">
            <a:extLst>
              <a:ext uri="{FF2B5EF4-FFF2-40B4-BE49-F238E27FC236}">
                <a16:creationId xmlns:a16="http://schemas.microsoft.com/office/drawing/2014/main" id="{2D82F2F9-96F1-46A5-9163-AC95ADEC7842}"/>
              </a:ext>
            </a:extLst>
          </p:cNvPr>
          <p:cNvSpPr>
            <a:spLocks noGrp="1"/>
          </p:cNvSpPr>
          <p:nvPr/>
        </p:nvSpPr>
        <p:spPr>
          <a:xfrm>
            <a:off x="14674378" y="5235102"/>
            <a:ext cx="1721710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Act as a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conservative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heritage-science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coder</a:t>
            </a:r>
          </a:p>
        </p:txBody>
      </p:sp>
      <p:sp>
        <p:nvSpPr>
          <p:cNvPr id="92" name="step3-manual">
            <a:extLst>
              <a:ext uri="{FF2B5EF4-FFF2-40B4-BE49-F238E27FC236}">
                <a16:creationId xmlns:a16="http://schemas.microsoft.com/office/drawing/2014/main" id="{DDF14544-B5DB-4804-9C95-9A0110BBB0E5}"/>
              </a:ext>
            </a:extLst>
          </p:cNvPr>
          <p:cNvSpPr>
            <a:spLocks noGrp="1"/>
          </p:cNvSpPr>
          <p:nvPr/>
        </p:nvSpPr>
        <p:spPr>
          <a:xfrm>
            <a:off x="16263896" y="4882200"/>
            <a:ext cx="1285875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0003">
            <a:solidFill>
              <a:srgbClr val="F064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4" name="step3-manual-title">
            <a:extLst>
              <a:ext uri="{FF2B5EF4-FFF2-40B4-BE49-F238E27FC236}">
                <a16:creationId xmlns:a16="http://schemas.microsoft.com/office/drawing/2014/main" id="{F39B716F-F2E5-4226-9172-B1002383F41B}"/>
              </a:ext>
            </a:extLst>
          </p:cNvPr>
          <p:cNvSpPr>
            <a:spLocks noGrp="1"/>
          </p:cNvSpPr>
          <p:nvPr/>
        </p:nvSpPr>
        <p:spPr>
          <a:xfrm>
            <a:off x="16744949" y="4977925"/>
            <a:ext cx="778473" cy="1954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2500" lnSpcReduction="20000"/>
          </a:bodyPr>
          <a:lstStyle/>
          <a:p>
            <a:pPr algn="ctr">
              <a:lnSpc>
                <a:spcPct val="92000"/>
              </a:lnSpc>
              <a:buNone/>
              <a:defRPr sz="1350" b="1" i="0">
                <a:solidFill>
                  <a:srgbClr val="F06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F06424"/>
                </a:solidFill>
                <a:latin typeface="Times New Roman"/>
                <a:ea typeface="Times New Roman"/>
                <a:cs typeface="Times New Roman"/>
              </a:rPr>
              <a:t>Manual</a:t>
            </a:r>
          </a:p>
        </p:txBody>
      </p:sp>
      <p:sp>
        <p:nvSpPr>
          <p:cNvPr id="95" name="step3-manual-body">
            <a:extLst>
              <a:ext uri="{FF2B5EF4-FFF2-40B4-BE49-F238E27FC236}">
                <a16:creationId xmlns:a16="http://schemas.microsoft.com/office/drawing/2014/main" id="{0186F197-D9A5-4EE0-89F8-82B9435E5368}"/>
              </a:ext>
            </a:extLst>
          </p:cNvPr>
          <p:cNvSpPr>
            <a:spLocks noGrp="1"/>
          </p:cNvSpPr>
          <p:nvPr/>
        </p:nvSpPr>
        <p:spPr>
          <a:xfrm>
            <a:off x="16211508" y="5299387"/>
            <a:ext cx="1357313" cy="657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Use only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predefined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odebooks</a:t>
            </a:r>
          </a:p>
        </p:txBody>
      </p:sp>
      <p:sp>
        <p:nvSpPr>
          <p:cNvPr id="96" name="step3-evidence">
            <a:extLst>
              <a:ext uri="{FF2B5EF4-FFF2-40B4-BE49-F238E27FC236}">
                <a16:creationId xmlns:a16="http://schemas.microsoft.com/office/drawing/2014/main" id="{210F7BCC-9324-41EB-AB37-28A219A999A5}"/>
              </a:ext>
            </a:extLst>
          </p:cNvPr>
          <p:cNvSpPr>
            <a:spLocks noGrp="1"/>
          </p:cNvSpPr>
          <p:nvPr/>
        </p:nvSpPr>
        <p:spPr>
          <a:xfrm>
            <a:off x="17665336" y="4892200"/>
            <a:ext cx="1590675" cy="1143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20003">
            <a:solidFill>
              <a:srgbClr val="F064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8" name="step3-evidence-title">
            <a:extLst>
              <a:ext uri="{FF2B5EF4-FFF2-40B4-BE49-F238E27FC236}">
                <a16:creationId xmlns:a16="http://schemas.microsoft.com/office/drawing/2014/main" id="{1E7AC6A0-AF42-4DC9-8602-2F2136BBA3AE}"/>
              </a:ext>
            </a:extLst>
          </p:cNvPr>
          <p:cNvSpPr>
            <a:spLocks noGrp="1"/>
          </p:cNvSpPr>
          <p:nvPr/>
        </p:nvSpPr>
        <p:spPr>
          <a:xfrm>
            <a:off x="18022845" y="4945447"/>
            <a:ext cx="1057549" cy="1954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2500" lnSpcReduction="20000"/>
          </a:bodyPr>
          <a:lstStyle/>
          <a:p>
            <a:pPr algn="ctr">
              <a:lnSpc>
                <a:spcPct val="92000"/>
              </a:lnSpc>
              <a:buNone/>
              <a:defRPr sz="1350" b="1" i="0">
                <a:solidFill>
                  <a:srgbClr val="F0642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F06424"/>
                </a:solidFill>
                <a:latin typeface="Times New Roman"/>
                <a:ea typeface="Times New Roman"/>
                <a:cs typeface="Times New Roman"/>
              </a:rPr>
              <a:t>Evidence</a:t>
            </a:r>
          </a:p>
        </p:txBody>
      </p:sp>
      <p:sp>
        <p:nvSpPr>
          <p:cNvPr id="99" name="step3-evidence-body">
            <a:extLst>
              <a:ext uri="{FF2B5EF4-FFF2-40B4-BE49-F238E27FC236}">
                <a16:creationId xmlns:a16="http://schemas.microsoft.com/office/drawing/2014/main" id="{0EE3218E-C1CC-4A36-AF57-877711EE0EBA}"/>
              </a:ext>
            </a:extLst>
          </p:cNvPr>
          <p:cNvSpPr>
            <a:spLocks noGrp="1"/>
          </p:cNvSpPr>
          <p:nvPr/>
        </p:nvSpPr>
        <p:spPr>
          <a:xfrm>
            <a:off x="17679987" y="5198358"/>
            <a:ext cx="1727235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Retain labels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only when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textual evidence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is present</a:t>
            </a:r>
          </a:p>
        </p:txBody>
      </p:sp>
      <p:sp>
        <p:nvSpPr>
          <p:cNvPr id="100" name="band-Step 4. Small-sample polling and prompt convergence">
            <a:extLst>
              <a:ext uri="{FF2B5EF4-FFF2-40B4-BE49-F238E27FC236}">
                <a16:creationId xmlns:a16="http://schemas.microsoft.com/office/drawing/2014/main" id="{74665B53-B832-48C2-B51A-DACEC6A76C1B}"/>
              </a:ext>
            </a:extLst>
          </p:cNvPr>
          <p:cNvSpPr>
            <a:spLocks noGrp="1"/>
          </p:cNvSpPr>
          <p:nvPr/>
        </p:nvSpPr>
        <p:spPr>
          <a:xfrm>
            <a:off x="566696" y="6225700"/>
            <a:ext cx="18745200" cy="3152775"/>
          </a:xfrm>
          <a:prstGeom prst="roundRect">
            <a:avLst>
              <a:gd name="adj" fmla="val 5438"/>
            </a:avLst>
          </a:prstGeom>
          <a:noFill/>
          <a:ln w="23813">
            <a:solidFill>
              <a:srgbClr val="2F963D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title-Step 4. Small-sample polling and prompt convergence">
            <a:extLst>
              <a:ext uri="{FF2B5EF4-FFF2-40B4-BE49-F238E27FC236}">
                <a16:creationId xmlns:a16="http://schemas.microsoft.com/office/drawing/2014/main" id="{A731EA3C-F0AA-4426-9808-45AAF3FE50B4}"/>
              </a:ext>
            </a:extLst>
          </p:cNvPr>
          <p:cNvSpPr>
            <a:spLocks noGrp="1"/>
          </p:cNvSpPr>
          <p:nvPr/>
        </p:nvSpPr>
        <p:spPr>
          <a:xfrm>
            <a:off x="4510046" y="6292375"/>
            <a:ext cx="1076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5908"/>
          </a:bodyPr>
          <a:lstStyle/>
          <a:p>
            <a:pPr algn="ctr">
              <a:lnSpc>
                <a:spcPct val="92000"/>
              </a:lnSpc>
              <a:buNone/>
              <a:defRPr sz="2550" b="1" i="0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dirty="0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rPr>
              <a:t>Step 4. Small-sample polling and prompt convergence</a:t>
            </a:r>
          </a:p>
        </p:txBody>
      </p:sp>
      <p:pic>
        <p:nvPicPr>
          <p:cNvPr id="735" name="图片 734"/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679863" y="6784500"/>
            <a:ext cx="3460544" cy="2143125"/>
          </a:xfrm>
          <a:prstGeom prst="rect">
            <a:avLst/>
          </a:prstGeom>
        </p:spPr>
      </p:pic>
      <p:sp>
        <p:nvSpPr>
          <p:cNvPr id="103" name="step4-q-title">
            <a:extLst>
              <a:ext uri="{FF2B5EF4-FFF2-40B4-BE49-F238E27FC236}">
                <a16:creationId xmlns:a16="http://schemas.microsoft.com/office/drawing/2014/main" id="{4EA98154-4E30-47FD-821F-0469B54BC84A}"/>
              </a:ext>
            </a:extLst>
          </p:cNvPr>
          <p:cNvSpPr>
            <a:spLocks noGrp="1"/>
          </p:cNvSpPr>
          <p:nvPr/>
        </p:nvSpPr>
        <p:spPr>
          <a:xfrm>
            <a:off x="5748298" y="6682902"/>
            <a:ext cx="3000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500" b="1" i="0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rPr>
              <a:t>Researcher questions(Q)</a:t>
            </a:r>
          </a:p>
        </p:txBody>
      </p:sp>
      <p:sp>
        <p:nvSpPr>
          <p:cNvPr id="104" name="step4-a-title">
            <a:extLst>
              <a:ext uri="{FF2B5EF4-FFF2-40B4-BE49-F238E27FC236}">
                <a16:creationId xmlns:a16="http://schemas.microsoft.com/office/drawing/2014/main" id="{3FB142C2-AE93-435A-AEAD-D4A02FFDBC1A}"/>
              </a:ext>
            </a:extLst>
          </p:cNvPr>
          <p:cNvSpPr>
            <a:spLocks noGrp="1"/>
          </p:cNvSpPr>
          <p:nvPr/>
        </p:nvSpPr>
        <p:spPr>
          <a:xfrm>
            <a:off x="12758696" y="6682902"/>
            <a:ext cx="2571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500" b="1" i="0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rPr>
              <a:t>AI responses (A)</a:t>
            </a:r>
          </a:p>
        </p:txBody>
      </p:sp>
      <p:sp>
        <p:nvSpPr>
          <p:cNvPr id="105" name="step4-Q1-card">
            <a:extLst>
              <a:ext uri="{FF2B5EF4-FFF2-40B4-BE49-F238E27FC236}">
                <a16:creationId xmlns:a16="http://schemas.microsoft.com/office/drawing/2014/main" id="{00A4F56A-6CDB-4CCC-84B3-CD2D98002A72}"/>
              </a:ext>
            </a:extLst>
          </p:cNvPr>
          <p:cNvSpPr>
            <a:spLocks noGrp="1"/>
          </p:cNvSpPr>
          <p:nvPr/>
        </p:nvSpPr>
        <p:spPr>
          <a:xfrm>
            <a:off x="4205246" y="6930550"/>
            <a:ext cx="6019800" cy="371475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7145">
            <a:solidFill>
              <a:srgbClr val="2F96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6" name="step4-Q1-label-box">
            <a:extLst>
              <a:ext uri="{FF2B5EF4-FFF2-40B4-BE49-F238E27FC236}">
                <a16:creationId xmlns:a16="http://schemas.microsoft.com/office/drawing/2014/main" id="{3CB14CFC-A371-4B7C-94B1-86B4B88A3504}"/>
              </a:ext>
            </a:extLst>
          </p:cNvPr>
          <p:cNvSpPr>
            <a:spLocks noGrp="1"/>
          </p:cNvSpPr>
          <p:nvPr/>
        </p:nvSpPr>
        <p:spPr>
          <a:xfrm>
            <a:off x="4271921" y="6968650"/>
            <a:ext cx="419100" cy="295275"/>
          </a:xfrm>
          <a:prstGeom prst="roundRect">
            <a:avLst>
              <a:gd name="adj" fmla="val 16129"/>
            </a:avLst>
          </a:prstGeom>
          <a:solidFill>
            <a:srgbClr val="EAF6E9"/>
          </a:solidFill>
          <a:ln w="13335">
            <a:solidFill>
              <a:srgbClr val="2F96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step4-Q1-label">
            <a:extLst>
              <a:ext uri="{FF2B5EF4-FFF2-40B4-BE49-F238E27FC236}">
                <a16:creationId xmlns:a16="http://schemas.microsoft.com/office/drawing/2014/main" id="{2D8F4D1B-4254-4572-A081-EEB82F9CA3D2}"/>
              </a:ext>
            </a:extLst>
          </p:cNvPr>
          <p:cNvSpPr>
            <a:spLocks noGrp="1"/>
          </p:cNvSpPr>
          <p:nvPr/>
        </p:nvSpPr>
        <p:spPr>
          <a:xfrm>
            <a:off x="4271921" y="6968650"/>
            <a:ext cx="419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425" b="1" i="0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rPr>
              <a:t>Q1</a:t>
            </a:r>
          </a:p>
        </p:txBody>
      </p:sp>
      <p:sp>
        <p:nvSpPr>
          <p:cNvPr id="108" name="step4-Q1-text">
            <a:extLst>
              <a:ext uri="{FF2B5EF4-FFF2-40B4-BE49-F238E27FC236}">
                <a16:creationId xmlns:a16="http://schemas.microsoft.com/office/drawing/2014/main" id="{7892B6CB-7472-4085-B3F9-F2F7316FAEDB}"/>
              </a:ext>
            </a:extLst>
          </p:cNvPr>
          <p:cNvSpPr>
            <a:spLocks noGrp="1"/>
          </p:cNvSpPr>
          <p:nvPr/>
        </p:nvSpPr>
        <p:spPr>
          <a:xfrm>
            <a:off x="4757696" y="6949600"/>
            <a:ext cx="53911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Can the model distinguish heritage objects from modern practices?</a:t>
            </a:r>
          </a:p>
        </p:txBody>
      </p:sp>
      <p:sp>
        <p:nvSpPr>
          <p:cNvPr id="109" name="step4-A1-card">
            <a:extLst>
              <a:ext uri="{FF2B5EF4-FFF2-40B4-BE49-F238E27FC236}">
                <a16:creationId xmlns:a16="http://schemas.microsoft.com/office/drawing/2014/main" id="{1221588C-8BCE-409F-8EB0-C5755F25BB57}"/>
              </a:ext>
            </a:extLst>
          </p:cNvPr>
          <p:cNvSpPr>
            <a:spLocks noGrp="1"/>
          </p:cNvSpPr>
          <p:nvPr/>
        </p:nvSpPr>
        <p:spPr>
          <a:xfrm>
            <a:off x="11348998" y="6930552"/>
            <a:ext cx="5248275" cy="371475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7145">
            <a:solidFill>
              <a:srgbClr val="2F96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0" name="step4-A1-label-box">
            <a:extLst>
              <a:ext uri="{FF2B5EF4-FFF2-40B4-BE49-F238E27FC236}">
                <a16:creationId xmlns:a16="http://schemas.microsoft.com/office/drawing/2014/main" id="{0A5AA600-8C2A-456A-8DE4-EE34927A2CBC}"/>
              </a:ext>
            </a:extLst>
          </p:cNvPr>
          <p:cNvSpPr>
            <a:spLocks noGrp="1"/>
          </p:cNvSpPr>
          <p:nvPr/>
        </p:nvSpPr>
        <p:spPr>
          <a:xfrm>
            <a:off x="11415671" y="6968652"/>
            <a:ext cx="419100" cy="295275"/>
          </a:xfrm>
          <a:prstGeom prst="roundRect">
            <a:avLst>
              <a:gd name="adj" fmla="val 16129"/>
            </a:avLst>
          </a:prstGeom>
          <a:solidFill>
            <a:srgbClr val="EAF6E9"/>
          </a:solidFill>
          <a:ln w="13335">
            <a:solidFill>
              <a:srgbClr val="2F96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step4-A1-label">
            <a:extLst>
              <a:ext uri="{FF2B5EF4-FFF2-40B4-BE49-F238E27FC236}">
                <a16:creationId xmlns:a16="http://schemas.microsoft.com/office/drawing/2014/main" id="{24BEC95E-C347-4B54-B38C-6A3EEB43D7BD}"/>
              </a:ext>
            </a:extLst>
          </p:cNvPr>
          <p:cNvSpPr>
            <a:spLocks noGrp="1"/>
          </p:cNvSpPr>
          <p:nvPr/>
        </p:nvSpPr>
        <p:spPr>
          <a:xfrm>
            <a:off x="11415671" y="6968652"/>
            <a:ext cx="419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425" b="1" i="0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rPr>
              <a:t>A1</a:t>
            </a:r>
          </a:p>
        </p:txBody>
      </p:sp>
      <p:sp>
        <p:nvSpPr>
          <p:cNvPr id="112" name="step4-A1-text">
            <a:extLst>
              <a:ext uri="{FF2B5EF4-FFF2-40B4-BE49-F238E27FC236}">
                <a16:creationId xmlns:a16="http://schemas.microsoft.com/office/drawing/2014/main" id="{3C646BE7-3160-43EB-AB01-B80DB6E4DDF5}"/>
              </a:ext>
            </a:extLst>
          </p:cNvPr>
          <p:cNvSpPr>
            <a:spLocks noGrp="1"/>
          </p:cNvSpPr>
          <p:nvPr/>
        </p:nvSpPr>
        <p:spPr>
          <a:xfrm>
            <a:off x="11882398" y="6940077"/>
            <a:ext cx="4638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It separates carriers, problem delimitations</a:t>
            </a:r>
          </a:p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and practice scopes.</a:t>
            </a:r>
          </a:p>
        </p:txBody>
      </p:sp>
      <p:sp>
        <p:nvSpPr>
          <p:cNvPr id="113" name="step4-Q2-card">
            <a:extLst>
              <a:ext uri="{FF2B5EF4-FFF2-40B4-BE49-F238E27FC236}">
                <a16:creationId xmlns:a16="http://schemas.microsoft.com/office/drawing/2014/main" id="{83163BBA-A70C-47D4-AC90-6C43412C73B1}"/>
              </a:ext>
            </a:extLst>
          </p:cNvPr>
          <p:cNvSpPr>
            <a:spLocks noGrp="1"/>
          </p:cNvSpPr>
          <p:nvPr/>
        </p:nvSpPr>
        <p:spPr>
          <a:xfrm>
            <a:off x="4205246" y="7406800"/>
            <a:ext cx="6019800" cy="371475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7145">
            <a:solidFill>
              <a:srgbClr val="2F96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4" name="step4-Q2-label-box">
            <a:extLst>
              <a:ext uri="{FF2B5EF4-FFF2-40B4-BE49-F238E27FC236}">
                <a16:creationId xmlns:a16="http://schemas.microsoft.com/office/drawing/2014/main" id="{1B98B03C-6C4A-4958-A2F3-0FB2ABC6D0D3}"/>
              </a:ext>
            </a:extLst>
          </p:cNvPr>
          <p:cNvSpPr>
            <a:spLocks noGrp="1"/>
          </p:cNvSpPr>
          <p:nvPr/>
        </p:nvSpPr>
        <p:spPr>
          <a:xfrm>
            <a:off x="4271921" y="7444900"/>
            <a:ext cx="419100" cy="295275"/>
          </a:xfrm>
          <a:prstGeom prst="roundRect">
            <a:avLst>
              <a:gd name="adj" fmla="val 16129"/>
            </a:avLst>
          </a:prstGeom>
          <a:solidFill>
            <a:srgbClr val="EAF6E9"/>
          </a:solidFill>
          <a:ln w="13335">
            <a:solidFill>
              <a:srgbClr val="2F96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step4-Q2-label">
            <a:extLst>
              <a:ext uri="{FF2B5EF4-FFF2-40B4-BE49-F238E27FC236}">
                <a16:creationId xmlns:a16="http://schemas.microsoft.com/office/drawing/2014/main" id="{8BDDC651-7AF5-475F-A35A-A7A7FE04C043}"/>
              </a:ext>
            </a:extLst>
          </p:cNvPr>
          <p:cNvSpPr>
            <a:spLocks noGrp="1"/>
          </p:cNvSpPr>
          <p:nvPr/>
        </p:nvSpPr>
        <p:spPr>
          <a:xfrm>
            <a:off x="4271921" y="7444900"/>
            <a:ext cx="419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425" b="1" i="0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rPr>
              <a:t>Q2</a:t>
            </a:r>
          </a:p>
        </p:txBody>
      </p:sp>
      <p:sp>
        <p:nvSpPr>
          <p:cNvPr id="116" name="step4-Q2-text">
            <a:extLst>
              <a:ext uri="{FF2B5EF4-FFF2-40B4-BE49-F238E27FC236}">
                <a16:creationId xmlns:a16="http://schemas.microsoft.com/office/drawing/2014/main" id="{8B2F038E-25AD-4ED1-8CB2-9EDAA3CF9E56}"/>
              </a:ext>
            </a:extLst>
          </p:cNvPr>
          <p:cNvSpPr>
            <a:spLocks noGrp="1"/>
          </p:cNvSpPr>
          <p:nvPr/>
        </p:nvSpPr>
        <p:spPr>
          <a:xfrm>
            <a:off x="4757696" y="7425850"/>
            <a:ext cx="53911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Is the model resisting training slogans as scientific evidence?</a:t>
            </a:r>
          </a:p>
        </p:txBody>
      </p:sp>
      <p:sp>
        <p:nvSpPr>
          <p:cNvPr id="117" name="step4-A2-card">
            <a:extLst>
              <a:ext uri="{FF2B5EF4-FFF2-40B4-BE49-F238E27FC236}">
                <a16:creationId xmlns:a16="http://schemas.microsoft.com/office/drawing/2014/main" id="{C4C6EF89-4DAC-4368-9D1E-EA876C83CDE6}"/>
              </a:ext>
            </a:extLst>
          </p:cNvPr>
          <p:cNvSpPr>
            <a:spLocks noGrp="1"/>
          </p:cNvSpPr>
          <p:nvPr/>
        </p:nvSpPr>
        <p:spPr>
          <a:xfrm>
            <a:off x="11348998" y="7408333"/>
            <a:ext cx="5248275" cy="36994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7145">
            <a:solidFill>
              <a:srgbClr val="2F96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8" name="step4-A2-label-box">
            <a:extLst>
              <a:ext uri="{FF2B5EF4-FFF2-40B4-BE49-F238E27FC236}">
                <a16:creationId xmlns:a16="http://schemas.microsoft.com/office/drawing/2014/main" id="{077058A0-3440-4330-BF1A-8FBEA76C938B}"/>
              </a:ext>
            </a:extLst>
          </p:cNvPr>
          <p:cNvSpPr>
            <a:spLocks noGrp="1"/>
          </p:cNvSpPr>
          <p:nvPr/>
        </p:nvSpPr>
        <p:spPr>
          <a:xfrm>
            <a:off x="11415671" y="7444902"/>
            <a:ext cx="419100" cy="295275"/>
          </a:xfrm>
          <a:prstGeom prst="roundRect">
            <a:avLst>
              <a:gd name="adj" fmla="val 16129"/>
            </a:avLst>
          </a:prstGeom>
          <a:solidFill>
            <a:srgbClr val="EAF6E9"/>
          </a:solidFill>
          <a:ln w="13335">
            <a:solidFill>
              <a:srgbClr val="2F96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step4-A2-label">
            <a:extLst>
              <a:ext uri="{FF2B5EF4-FFF2-40B4-BE49-F238E27FC236}">
                <a16:creationId xmlns:a16="http://schemas.microsoft.com/office/drawing/2014/main" id="{68B342E9-A3F1-48C3-BBA3-ADB6C7F7F0E9}"/>
              </a:ext>
            </a:extLst>
          </p:cNvPr>
          <p:cNvSpPr>
            <a:spLocks noGrp="1"/>
          </p:cNvSpPr>
          <p:nvPr/>
        </p:nvSpPr>
        <p:spPr>
          <a:xfrm>
            <a:off x="11415671" y="7444902"/>
            <a:ext cx="419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425" b="1" i="0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rPr>
              <a:t>A2</a:t>
            </a:r>
          </a:p>
        </p:txBody>
      </p:sp>
      <p:sp>
        <p:nvSpPr>
          <p:cNvPr id="120" name="step4-A2-text">
            <a:extLst>
              <a:ext uri="{FF2B5EF4-FFF2-40B4-BE49-F238E27FC236}">
                <a16:creationId xmlns:a16="http://schemas.microsoft.com/office/drawing/2014/main" id="{0C37283C-37EE-4A47-9B68-920914618B2E}"/>
              </a:ext>
            </a:extLst>
          </p:cNvPr>
          <p:cNvSpPr>
            <a:spLocks noGrp="1"/>
          </p:cNvSpPr>
          <p:nvPr/>
        </p:nvSpPr>
        <p:spPr>
          <a:xfrm>
            <a:off x="11882398" y="7416327"/>
            <a:ext cx="4638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It analyzes primitive evidence-only coding and flags</a:t>
            </a:r>
          </a:p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insufficient information.</a:t>
            </a:r>
          </a:p>
        </p:txBody>
      </p:sp>
      <p:sp>
        <p:nvSpPr>
          <p:cNvPr id="121" name="step4-Q3-card">
            <a:extLst>
              <a:ext uri="{FF2B5EF4-FFF2-40B4-BE49-F238E27FC236}">
                <a16:creationId xmlns:a16="http://schemas.microsoft.com/office/drawing/2014/main" id="{76AE263C-C121-44AF-A484-38EE844DD45C}"/>
              </a:ext>
            </a:extLst>
          </p:cNvPr>
          <p:cNvSpPr>
            <a:spLocks noGrp="1"/>
          </p:cNvSpPr>
          <p:nvPr/>
        </p:nvSpPr>
        <p:spPr>
          <a:xfrm>
            <a:off x="4205246" y="7883050"/>
            <a:ext cx="6019800" cy="371475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7145">
            <a:solidFill>
              <a:srgbClr val="2F96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2" name="step4-Q3-label-box">
            <a:extLst>
              <a:ext uri="{FF2B5EF4-FFF2-40B4-BE49-F238E27FC236}">
                <a16:creationId xmlns:a16="http://schemas.microsoft.com/office/drawing/2014/main" id="{8D366B07-02C9-4FC8-A873-B965A3D489AF}"/>
              </a:ext>
            </a:extLst>
          </p:cNvPr>
          <p:cNvSpPr>
            <a:spLocks noGrp="1"/>
          </p:cNvSpPr>
          <p:nvPr/>
        </p:nvSpPr>
        <p:spPr>
          <a:xfrm>
            <a:off x="4271921" y="7921150"/>
            <a:ext cx="419100" cy="295275"/>
          </a:xfrm>
          <a:prstGeom prst="roundRect">
            <a:avLst>
              <a:gd name="adj" fmla="val 16129"/>
            </a:avLst>
          </a:prstGeom>
          <a:solidFill>
            <a:srgbClr val="EAF6E9"/>
          </a:solidFill>
          <a:ln w="13335">
            <a:solidFill>
              <a:srgbClr val="2F96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step4-Q3-label">
            <a:extLst>
              <a:ext uri="{FF2B5EF4-FFF2-40B4-BE49-F238E27FC236}">
                <a16:creationId xmlns:a16="http://schemas.microsoft.com/office/drawing/2014/main" id="{EE4E56A5-12EA-4347-8F22-AB9D3EA637AE}"/>
              </a:ext>
            </a:extLst>
          </p:cNvPr>
          <p:cNvSpPr>
            <a:spLocks noGrp="1"/>
          </p:cNvSpPr>
          <p:nvPr/>
        </p:nvSpPr>
        <p:spPr>
          <a:xfrm>
            <a:off x="4271921" y="7921150"/>
            <a:ext cx="419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425" b="1" i="0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rPr>
              <a:t>Q3</a:t>
            </a:r>
          </a:p>
        </p:txBody>
      </p:sp>
      <p:sp>
        <p:nvSpPr>
          <p:cNvPr id="124" name="step4-Q3-text">
            <a:extLst>
              <a:ext uri="{FF2B5EF4-FFF2-40B4-BE49-F238E27FC236}">
                <a16:creationId xmlns:a16="http://schemas.microsoft.com/office/drawing/2014/main" id="{5560255D-8ABB-4E93-A307-95BDFBCAD63C}"/>
              </a:ext>
            </a:extLst>
          </p:cNvPr>
          <p:cNvSpPr>
            <a:spLocks noGrp="1"/>
          </p:cNvSpPr>
          <p:nvPr/>
        </p:nvSpPr>
        <p:spPr>
          <a:xfrm>
            <a:off x="4757696" y="7902100"/>
            <a:ext cx="53911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Can the model handle compound projects with multi-dimensions</a:t>
            </a:r>
          </a:p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and governance complexity?</a:t>
            </a:r>
          </a:p>
        </p:txBody>
      </p:sp>
      <p:sp>
        <p:nvSpPr>
          <p:cNvPr id="125" name="step4-A3-card">
            <a:extLst>
              <a:ext uri="{FF2B5EF4-FFF2-40B4-BE49-F238E27FC236}">
                <a16:creationId xmlns:a16="http://schemas.microsoft.com/office/drawing/2014/main" id="{EAFA3EB5-15B8-45C4-BC83-66575FC91B83}"/>
              </a:ext>
            </a:extLst>
          </p:cNvPr>
          <p:cNvSpPr>
            <a:spLocks noGrp="1"/>
          </p:cNvSpPr>
          <p:nvPr/>
        </p:nvSpPr>
        <p:spPr>
          <a:xfrm>
            <a:off x="11348998" y="7855027"/>
            <a:ext cx="5248275" cy="429657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7145">
            <a:solidFill>
              <a:srgbClr val="2F96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6" name="step4-A3-label-box">
            <a:extLst>
              <a:ext uri="{FF2B5EF4-FFF2-40B4-BE49-F238E27FC236}">
                <a16:creationId xmlns:a16="http://schemas.microsoft.com/office/drawing/2014/main" id="{3B484C20-110B-47D3-8923-D53DF8F8EE8C}"/>
              </a:ext>
            </a:extLst>
          </p:cNvPr>
          <p:cNvSpPr>
            <a:spLocks noGrp="1"/>
          </p:cNvSpPr>
          <p:nvPr/>
        </p:nvSpPr>
        <p:spPr>
          <a:xfrm>
            <a:off x="11415671" y="7921152"/>
            <a:ext cx="419100" cy="295275"/>
          </a:xfrm>
          <a:prstGeom prst="roundRect">
            <a:avLst>
              <a:gd name="adj" fmla="val 16129"/>
            </a:avLst>
          </a:prstGeom>
          <a:solidFill>
            <a:srgbClr val="EAF6E9"/>
          </a:solidFill>
          <a:ln w="13335">
            <a:solidFill>
              <a:srgbClr val="2F96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" name="step4-A3-label">
            <a:extLst>
              <a:ext uri="{FF2B5EF4-FFF2-40B4-BE49-F238E27FC236}">
                <a16:creationId xmlns:a16="http://schemas.microsoft.com/office/drawing/2014/main" id="{AB4CEDB3-3120-45F1-A1E7-08DBEF1F0B66}"/>
              </a:ext>
            </a:extLst>
          </p:cNvPr>
          <p:cNvSpPr>
            <a:spLocks noGrp="1"/>
          </p:cNvSpPr>
          <p:nvPr/>
        </p:nvSpPr>
        <p:spPr>
          <a:xfrm>
            <a:off x="11415671" y="7921152"/>
            <a:ext cx="419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425" b="1" i="0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rPr>
              <a:t>A3</a:t>
            </a:r>
          </a:p>
        </p:txBody>
      </p:sp>
      <p:sp>
        <p:nvSpPr>
          <p:cNvPr id="128" name="step4-A3-text">
            <a:extLst>
              <a:ext uri="{FF2B5EF4-FFF2-40B4-BE49-F238E27FC236}">
                <a16:creationId xmlns:a16="http://schemas.microsoft.com/office/drawing/2014/main" id="{932099E3-62BD-4E2B-96BF-E7CF01764D71}"/>
              </a:ext>
            </a:extLst>
          </p:cNvPr>
          <p:cNvSpPr>
            <a:spLocks noGrp="1"/>
          </p:cNvSpPr>
          <p:nvPr/>
        </p:nvSpPr>
        <p:spPr>
          <a:xfrm>
            <a:off x="11882398" y="7892577"/>
            <a:ext cx="4638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It uses single-label fields for primary categories and</a:t>
            </a:r>
          </a:p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multi-label tags for co-occurrence.</a:t>
            </a:r>
          </a:p>
        </p:txBody>
      </p:sp>
      <p:sp>
        <p:nvSpPr>
          <p:cNvPr id="129" name="step4-Q4-card">
            <a:extLst>
              <a:ext uri="{FF2B5EF4-FFF2-40B4-BE49-F238E27FC236}">
                <a16:creationId xmlns:a16="http://schemas.microsoft.com/office/drawing/2014/main" id="{9752D2ED-AA18-4F62-9FF7-BB83FD3FBE72}"/>
              </a:ext>
            </a:extLst>
          </p:cNvPr>
          <p:cNvSpPr>
            <a:spLocks noGrp="1"/>
          </p:cNvSpPr>
          <p:nvPr/>
        </p:nvSpPr>
        <p:spPr>
          <a:xfrm>
            <a:off x="4205246" y="8359300"/>
            <a:ext cx="6019800" cy="371475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7145">
            <a:solidFill>
              <a:srgbClr val="2F96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step4-Q4-label-box">
            <a:extLst>
              <a:ext uri="{FF2B5EF4-FFF2-40B4-BE49-F238E27FC236}">
                <a16:creationId xmlns:a16="http://schemas.microsoft.com/office/drawing/2014/main" id="{5DB417F2-4156-4997-A908-DE38E27EC68B}"/>
              </a:ext>
            </a:extLst>
          </p:cNvPr>
          <p:cNvSpPr>
            <a:spLocks noGrp="1"/>
          </p:cNvSpPr>
          <p:nvPr/>
        </p:nvSpPr>
        <p:spPr>
          <a:xfrm>
            <a:off x="4271921" y="8397400"/>
            <a:ext cx="419100" cy="295275"/>
          </a:xfrm>
          <a:prstGeom prst="roundRect">
            <a:avLst>
              <a:gd name="adj" fmla="val 16129"/>
            </a:avLst>
          </a:prstGeom>
          <a:solidFill>
            <a:srgbClr val="EAF6E9"/>
          </a:solidFill>
          <a:ln w="13335">
            <a:solidFill>
              <a:srgbClr val="2F96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1" name="step4-Q4-label">
            <a:extLst>
              <a:ext uri="{FF2B5EF4-FFF2-40B4-BE49-F238E27FC236}">
                <a16:creationId xmlns:a16="http://schemas.microsoft.com/office/drawing/2014/main" id="{41FE5E41-09BB-4EC7-9579-A4BC6E0613B4}"/>
              </a:ext>
            </a:extLst>
          </p:cNvPr>
          <p:cNvSpPr>
            <a:spLocks noGrp="1"/>
          </p:cNvSpPr>
          <p:nvPr/>
        </p:nvSpPr>
        <p:spPr>
          <a:xfrm>
            <a:off x="4271921" y="8397400"/>
            <a:ext cx="419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425" b="1" i="0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rPr>
              <a:t>Q4</a:t>
            </a:r>
          </a:p>
        </p:txBody>
      </p:sp>
      <p:sp>
        <p:nvSpPr>
          <p:cNvPr id="132" name="step4-Q4-text">
            <a:extLst>
              <a:ext uri="{FF2B5EF4-FFF2-40B4-BE49-F238E27FC236}">
                <a16:creationId xmlns:a16="http://schemas.microsoft.com/office/drawing/2014/main" id="{01A51856-E7C9-45E3-83E2-3056B71B6AA4}"/>
              </a:ext>
            </a:extLst>
          </p:cNvPr>
          <p:cNvSpPr>
            <a:spLocks noGrp="1"/>
          </p:cNvSpPr>
          <p:nvPr/>
        </p:nvSpPr>
        <p:spPr>
          <a:xfrm>
            <a:off x="4757696" y="8378350"/>
            <a:ext cx="53911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Are multiple codes traceable to manual references?</a:t>
            </a:r>
          </a:p>
        </p:txBody>
      </p:sp>
      <p:sp>
        <p:nvSpPr>
          <p:cNvPr id="133" name="step4-A4-card">
            <a:extLst>
              <a:ext uri="{FF2B5EF4-FFF2-40B4-BE49-F238E27FC236}">
                <a16:creationId xmlns:a16="http://schemas.microsoft.com/office/drawing/2014/main" id="{1F0B0B06-6CB2-4435-9E1B-567EA68D39B0}"/>
              </a:ext>
            </a:extLst>
          </p:cNvPr>
          <p:cNvSpPr>
            <a:spLocks noGrp="1"/>
          </p:cNvSpPr>
          <p:nvPr/>
        </p:nvSpPr>
        <p:spPr>
          <a:xfrm>
            <a:off x="11348998" y="8359302"/>
            <a:ext cx="5248275" cy="371475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7145">
            <a:solidFill>
              <a:srgbClr val="2F96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4" name="step4-A4-label-box">
            <a:extLst>
              <a:ext uri="{FF2B5EF4-FFF2-40B4-BE49-F238E27FC236}">
                <a16:creationId xmlns:a16="http://schemas.microsoft.com/office/drawing/2014/main" id="{01EA62B6-F198-48BC-9DE0-90497EEAD2FF}"/>
              </a:ext>
            </a:extLst>
          </p:cNvPr>
          <p:cNvSpPr>
            <a:spLocks noGrp="1"/>
          </p:cNvSpPr>
          <p:nvPr/>
        </p:nvSpPr>
        <p:spPr>
          <a:xfrm>
            <a:off x="11415671" y="8397402"/>
            <a:ext cx="419100" cy="295275"/>
          </a:xfrm>
          <a:prstGeom prst="roundRect">
            <a:avLst>
              <a:gd name="adj" fmla="val 16129"/>
            </a:avLst>
          </a:prstGeom>
          <a:solidFill>
            <a:srgbClr val="EAF6E9"/>
          </a:solidFill>
          <a:ln w="13335">
            <a:solidFill>
              <a:srgbClr val="2F96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5" name="step4-A4-label">
            <a:extLst>
              <a:ext uri="{FF2B5EF4-FFF2-40B4-BE49-F238E27FC236}">
                <a16:creationId xmlns:a16="http://schemas.microsoft.com/office/drawing/2014/main" id="{1D607202-C69E-4EF5-A278-2F924B896A72}"/>
              </a:ext>
            </a:extLst>
          </p:cNvPr>
          <p:cNvSpPr>
            <a:spLocks noGrp="1"/>
          </p:cNvSpPr>
          <p:nvPr/>
        </p:nvSpPr>
        <p:spPr>
          <a:xfrm>
            <a:off x="11415671" y="8397402"/>
            <a:ext cx="4191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425" b="1" i="0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rPr>
              <a:t>A4</a:t>
            </a:r>
          </a:p>
        </p:txBody>
      </p:sp>
      <p:sp>
        <p:nvSpPr>
          <p:cNvPr id="136" name="step4-A4-text">
            <a:extLst>
              <a:ext uri="{FF2B5EF4-FFF2-40B4-BE49-F238E27FC236}">
                <a16:creationId xmlns:a16="http://schemas.microsoft.com/office/drawing/2014/main" id="{1BEDF912-8F74-41DC-B665-E346FF2ECACD}"/>
              </a:ext>
            </a:extLst>
          </p:cNvPr>
          <p:cNvSpPr>
            <a:spLocks noGrp="1"/>
          </p:cNvSpPr>
          <p:nvPr/>
        </p:nvSpPr>
        <p:spPr>
          <a:xfrm>
            <a:off x="11882398" y="8368827"/>
            <a:ext cx="46386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It references evidence phrases, confidence scores and review flags</a:t>
            </a:r>
          </a:p>
        </p:txBody>
      </p:sp>
      <p:cxnSp>
        <p:nvCxnSpPr>
          <p:cNvPr id="770" name="直接箭头连接符 769"/>
          <p:cNvCxnSpPr>
            <a:stCxn id="105" idx="3"/>
            <a:endCxn id="109" idx="1"/>
          </p:cNvCxnSpPr>
          <p:nvPr/>
        </p:nvCxnSpPr>
        <p:spPr>
          <a:xfrm>
            <a:off x="10225046" y="7116288"/>
            <a:ext cx="1123950" cy="0"/>
          </a:xfrm>
          <a:prstGeom prst="straightConnector1">
            <a:avLst/>
          </a:prstGeom>
          <a:ln w="17145">
            <a:solidFill>
              <a:srgbClr val="777777"/>
            </a:solidFill>
            <a:prstDash val="dash"/>
            <a:headEnd type="arrow" w="sm" len="sm"/>
            <a:tailEnd type="arrow" w="sm" len="sm"/>
          </a:ln>
        </p:spPr>
      </p:cxnSp>
      <p:cxnSp>
        <p:nvCxnSpPr>
          <p:cNvPr id="771" name="直接箭头连接符 770"/>
          <p:cNvCxnSpPr>
            <a:cxnSpLocks/>
            <a:stCxn id="113" idx="3"/>
            <a:endCxn id="117" idx="1"/>
          </p:cNvCxnSpPr>
          <p:nvPr/>
        </p:nvCxnSpPr>
        <p:spPr>
          <a:xfrm>
            <a:off x="10225046" y="7592538"/>
            <a:ext cx="1123950" cy="766"/>
          </a:xfrm>
          <a:prstGeom prst="straightConnector1">
            <a:avLst/>
          </a:prstGeom>
          <a:ln w="17145">
            <a:solidFill>
              <a:srgbClr val="777777"/>
            </a:solidFill>
            <a:prstDash val="dash"/>
            <a:headEnd type="arrow" w="sm" len="sm"/>
            <a:tailEnd type="arrow" w="sm" len="sm"/>
          </a:ln>
        </p:spPr>
      </p:cxnSp>
      <p:cxnSp>
        <p:nvCxnSpPr>
          <p:cNvPr id="772" name="直接箭头连接符 771"/>
          <p:cNvCxnSpPr>
            <a:cxnSpLocks/>
            <a:stCxn id="121" idx="3"/>
            <a:endCxn id="125" idx="1"/>
          </p:cNvCxnSpPr>
          <p:nvPr/>
        </p:nvCxnSpPr>
        <p:spPr>
          <a:xfrm>
            <a:off x="10225046" y="8068788"/>
            <a:ext cx="1123952" cy="1068"/>
          </a:xfrm>
          <a:prstGeom prst="straightConnector1">
            <a:avLst/>
          </a:prstGeom>
          <a:ln w="17145">
            <a:solidFill>
              <a:srgbClr val="777777"/>
            </a:solidFill>
            <a:prstDash val="dash"/>
            <a:headEnd type="arrow" w="sm" len="sm"/>
            <a:tailEnd type="arrow" w="sm" len="sm"/>
          </a:ln>
        </p:spPr>
      </p:cxnSp>
      <p:cxnSp>
        <p:nvCxnSpPr>
          <p:cNvPr id="773" name="直接箭头连接符 772"/>
          <p:cNvCxnSpPr>
            <a:stCxn id="129" idx="3"/>
            <a:endCxn id="133" idx="1"/>
          </p:cNvCxnSpPr>
          <p:nvPr/>
        </p:nvCxnSpPr>
        <p:spPr>
          <a:xfrm>
            <a:off x="10225046" y="8545038"/>
            <a:ext cx="1123950" cy="0"/>
          </a:xfrm>
          <a:prstGeom prst="straightConnector1">
            <a:avLst/>
          </a:prstGeom>
          <a:ln w="17145">
            <a:solidFill>
              <a:srgbClr val="777777"/>
            </a:solidFill>
            <a:prstDash val="dash"/>
            <a:headEnd type="arrow" w="sm" len="sm"/>
            <a:tailEnd type="arrow" w="sm" len="sm"/>
          </a:ln>
        </p:spPr>
      </p:cxnSp>
      <p:sp>
        <p:nvSpPr>
          <p:cNvPr id="141" name="step4-stable-package">
            <a:extLst>
              <a:ext uri="{FF2B5EF4-FFF2-40B4-BE49-F238E27FC236}">
                <a16:creationId xmlns:a16="http://schemas.microsoft.com/office/drawing/2014/main" id="{97899515-874F-4480-A6CC-238EFF9E834D}"/>
              </a:ext>
            </a:extLst>
          </p:cNvPr>
          <p:cNvSpPr>
            <a:spLocks noGrp="1"/>
          </p:cNvSpPr>
          <p:nvPr/>
        </p:nvSpPr>
        <p:spPr>
          <a:xfrm>
            <a:off x="5881646" y="8816500"/>
            <a:ext cx="8743950" cy="457200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7145">
            <a:solidFill>
              <a:srgbClr val="2F96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75" name="图片 774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6072148" y="8860952"/>
            <a:ext cx="466725" cy="390525"/>
          </a:xfrm>
          <a:prstGeom prst="rect">
            <a:avLst/>
          </a:prstGeom>
        </p:spPr>
      </p:pic>
      <p:sp>
        <p:nvSpPr>
          <p:cNvPr id="143" name="step4-package-title">
            <a:extLst>
              <a:ext uri="{FF2B5EF4-FFF2-40B4-BE49-F238E27FC236}">
                <a16:creationId xmlns:a16="http://schemas.microsoft.com/office/drawing/2014/main" id="{29417AB5-46E5-4826-9648-2469F95F5856}"/>
              </a:ext>
            </a:extLst>
          </p:cNvPr>
          <p:cNvSpPr>
            <a:spLocks noGrp="1"/>
          </p:cNvSpPr>
          <p:nvPr/>
        </p:nvSpPr>
        <p:spPr>
          <a:xfrm>
            <a:off x="8653421" y="8816502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lnSpcReduction="10000"/>
          </a:bodyPr>
          <a:lstStyle/>
          <a:p>
            <a:pPr algn="ctr">
              <a:lnSpc>
                <a:spcPct val="92000"/>
              </a:lnSpc>
              <a:buNone/>
              <a:defRPr sz="1425" b="1" i="0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dirty="0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rPr>
              <a:t>Stable </a:t>
            </a:r>
            <a:r>
              <a:rPr sz="1600" b="1" dirty="0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rPr>
              <a:t>prompt</a:t>
            </a:r>
            <a:r>
              <a:rPr sz="1425" b="1" dirty="0">
                <a:solidFill>
                  <a:srgbClr val="2F963D"/>
                </a:solidFill>
                <a:latin typeface="Times New Roman"/>
                <a:ea typeface="Times New Roman"/>
                <a:cs typeface="Times New Roman"/>
              </a:rPr>
              <a:t> package</a:t>
            </a:r>
          </a:p>
        </p:txBody>
      </p:sp>
      <p:sp>
        <p:nvSpPr>
          <p:cNvPr id="144" name="step4-package-body">
            <a:extLst>
              <a:ext uri="{FF2B5EF4-FFF2-40B4-BE49-F238E27FC236}">
                <a16:creationId xmlns:a16="http://schemas.microsoft.com/office/drawing/2014/main" id="{1C36EE8F-C0FD-4F25-8D42-4242BC7F757B}"/>
              </a:ext>
            </a:extLst>
          </p:cNvPr>
          <p:cNvSpPr>
            <a:spLocks noGrp="1"/>
          </p:cNvSpPr>
          <p:nvPr/>
        </p:nvSpPr>
        <p:spPr>
          <a:xfrm>
            <a:off x="7081796" y="9045100"/>
            <a:ext cx="647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role + coding manual + anti-hallucination rules + JSON schema + review protocol</a:t>
            </a:r>
          </a:p>
        </p:txBody>
      </p:sp>
      <p:pic>
        <p:nvPicPr>
          <p:cNvPr id="778" name="图片 777"/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16825872" y="6641423"/>
            <a:ext cx="2376528" cy="2305223"/>
          </a:xfrm>
          <a:prstGeom prst="rect">
            <a:avLst/>
          </a:prstGeom>
        </p:spPr>
      </p:pic>
      <p:sp>
        <p:nvSpPr>
          <p:cNvPr id="146" name="step4-loop-text">
            <a:extLst>
              <a:ext uri="{FF2B5EF4-FFF2-40B4-BE49-F238E27FC236}">
                <a16:creationId xmlns:a16="http://schemas.microsoft.com/office/drawing/2014/main" id="{7A93015B-E471-44F3-BFE9-E043C0BBCFC6}"/>
              </a:ext>
            </a:extLst>
          </p:cNvPr>
          <p:cNvSpPr>
            <a:spLocks noGrp="1"/>
          </p:cNvSpPr>
          <p:nvPr/>
        </p:nvSpPr>
        <p:spPr>
          <a:xfrm>
            <a:off x="17144958" y="7130575"/>
            <a:ext cx="16383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2250" b="1" i="0">
                <a:solidFill>
                  <a:srgbClr val="187D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187D2B"/>
                </a:solidFill>
                <a:latin typeface="Times New Roman"/>
                <a:ea typeface="Times New Roman"/>
                <a:cs typeface="Times New Roman"/>
              </a:rPr>
              <a:t>prompt</a:t>
            </a:r>
          </a:p>
          <a:p>
            <a:pPr algn="ctr">
              <a:lnSpc>
                <a:spcPct val="100000"/>
              </a:lnSpc>
              <a:buNone/>
              <a:defRPr sz="2250" b="1" i="0">
                <a:solidFill>
                  <a:srgbClr val="187D2B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US" sz="2400" b="1" dirty="0">
                <a:solidFill>
                  <a:srgbClr val="187D2B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2400" b="1" dirty="0">
                <a:solidFill>
                  <a:srgbClr val="187D2B"/>
                </a:solidFill>
                <a:latin typeface="Times New Roman"/>
                <a:ea typeface="Times New Roman"/>
                <a:cs typeface="Times New Roman"/>
              </a:rPr>
              <a:t>efinement</a:t>
            </a:r>
          </a:p>
          <a:p>
            <a:pPr algn="ctr">
              <a:lnSpc>
                <a:spcPct val="100000"/>
              </a:lnSpc>
              <a:buNone/>
              <a:defRPr sz="2250" b="1" i="0">
                <a:solidFill>
                  <a:srgbClr val="187D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dirty="0">
                <a:solidFill>
                  <a:srgbClr val="187D2B"/>
                </a:solidFill>
                <a:latin typeface="Times New Roman"/>
                <a:ea typeface="Times New Roman"/>
                <a:cs typeface="Times New Roman"/>
              </a:rPr>
              <a:t>loop</a:t>
            </a:r>
          </a:p>
        </p:txBody>
      </p:sp>
      <p:sp>
        <p:nvSpPr>
          <p:cNvPr id="147" name="band-Step 5. Independent LLM extraction, validation and outputs">
            <a:extLst>
              <a:ext uri="{FF2B5EF4-FFF2-40B4-BE49-F238E27FC236}">
                <a16:creationId xmlns:a16="http://schemas.microsoft.com/office/drawing/2014/main" id="{84C62D8F-60CD-476C-955B-B0EDD59D4626}"/>
              </a:ext>
            </a:extLst>
          </p:cNvPr>
          <p:cNvSpPr>
            <a:spLocks noGrp="1"/>
          </p:cNvSpPr>
          <p:nvPr/>
        </p:nvSpPr>
        <p:spPr>
          <a:xfrm>
            <a:off x="566696" y="9521350"/>
            <a:ext cx="18745200" cy="2276475"/>
          </a:xfrm>
          <a:prstGeom prst="roundRect">
            <a:avLst>
              <a:gd name="adj" fmla="val 7531"/>
            </a:avLst>
          </a:prstGeom>
          <a:noFill/>
          <a:ln w="23813">
            <a:solidFill>
              <a:srgbClr val="7955D9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8" name="title-Step 5. Independent LLM extraction, validation and outputs">
            <a:extLst>
              <a:ext uri="{FF2B5EF4-FFF2-40B4-BE49-F238E27FC236}">
                <a16:creationId xmlns:a16="http://schemas.microsoft.com/office/drawing/2014/main" id="{320B9C08-F593-4392-BC60-1A09B713D30F}"/>
              </a:ext>
            </a:extLst>
          </p:cNvPr>
          <p:cNvSpPr>
            <a:spLocks noGrp="1"/>
          </p:cNvSpPr>
          <p:nvPr/>
        </p:nvSpPr>
        <p:spPr>
          <a:xfrm>
            <a:off x="4510046" y="9588025"/>
            <a:ext cx="1076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5908"/>
          </a:bodyPr>
          <a:lstStyle/>
          <a:p>
            <a:pPr algn="ctr">
              <a:lnSpc>
                <a:spcPct val="92000"/>
              </a:lnSpc>
              <a:buNone/>
              <a:defRPr sz="2550" b="1" i="0">
                <a:solidFill>
                  <a:srgbClr val="7955D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dirty="0">
                <a:solidFill>
                  <a:srgbClr val="7955D9"/>
                </a:solidFill>
                <a:latin typeface="Times New Roman"/>
                <a:ea typeface="Times New Roman"/>
                <a:cs typeface="Times New Roman"/>
              </a:rPr>
              <a:t>Step 5. Independent LLM extraction, validation and outputs</a:t>
            </a:r>
          </a:p>
        </p:txBody>
      </p:sp>
      <p:pic>
        <p:nvPicPr>
          <p:cNvPr id="782" name="图片 781"/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637405" y="9807100"/>
            <a:ext cx="1763583" cy="1819275"/>
          </a:xfrm>
          <a:prstGeom prst="rect">
            <a:avLst/>
          </a:prstGeom>
        </p:spPr>
      </p:pic>
      <p:sp>
        <p:nvSpPr>
          <p:cNvPr id="150" name="flow-arrow-417-1081">
            <a:extLst>
              <a:ext uri="{FF2B5EF4-FFF2-40B4-BE49-F238E27FC236}">
                <a16:creationId xmlns:a16="http://schemas.microsoft.com/office/drawing/2014/main" id="{E267337C-79DF-487A-B0CD-DE4407AB4C73}"/>
              </a:ext>
            </a:extLst>
          </p:cNvPr>
          <p:cNvSpPr>
            <a:spLocks noGrp="1"/>
          </p:cNvSpPr>
          <p:nvPr/>
        </p:nvSpPr>
        <p:spPr>
          <a:xfrm>
            <a:off x="4386221" y="10588150"/>
            <a:ext cx="361950" cy="400050"/>
          </a:xfrm>
          <a:prstGeom prst="rightArrow">
            <a:avLst/>
          </a:prstGeom>
          <a:solidFill>
            <a:srgbClr val="858585"/>
          </a:solidFill>
          <a:ln w="4763">
            <a:solidFill>
              <a:srgbClr val="85858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1" name="flow-arrow-732-1081">
            <a:extLst>
              <a:ext uri="{FF2B5EF4-FFF2-40B4-BE49-F238E27FC236}">
                <a16:creationId xmlns:a16="http://schemas.microsoft.com/office/drawing/2014/main" id="{416EFF3C-B73E-41A6-B178-A12DB881E301}"/>
              </a:ext>
            </a:extLst>
          </p:cNvPr>
          <p:cNvSpPr>
            <a:spLocks noGrp="1"/>
          </p:cNvSpPr>
          <p:nvPr/>
        </p:nvSpPr>
        <p:spPr>
          <a:xfrm>
            <a:off x="7386596" y="10588150"/>
            <a:ext cx="361950" cy="400050"/>
          </a:xfrm>
          <a:prstGeom prst="rightArrow">
            <a:avLst/>
          </a:prstGeom>
          <a:solidFill>
            <a:srgbClr val="858585"/>
          </a:solidFill>
          <a:ln w="4763">
            <a:solidFill>
              <a:srgbClr val="85858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2" name="flow-arrow-995-1081">
            <a:extLst>
              <a:ext uri="{FF2B5EF4-FFF2-40B4-BE49-F238E27FC236}">
                <a16:creationId xmlns:a16="http://schemas.microsoft.com/office/drawing/2014/main" id="{E237CE70-274A-4D89-BD43-9832C27B7102}"/>
              </a:ext>
            </a:extLst>
          </p:cNvPr>
          <p:cNvSpPr>
            <a:spLocks noGrp="1"/>
          </p:cNvSpPr>
          <p:nvPr/>
        </p:nvSpPr>
        <p:spPr>
          <a:xfrm>
            <a:off x="9891671" y="10588150"/>
            <a:ext cx="361950" cy="400050"/>
          </a:xfrm>
          <a:prstGeom prst="rightArrow">
            <a:avLst/>
          </a:prstGeom>
          <a:solidFill>
            <a:srgbClr val="858585"/>
          </a:solidFill>
          <a:ln w="4763">
            <a:solidFill>
              <a:srgbClr val="85858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" name="flow-arrow-1282-1081">
            <a:extLst>
              <a:ext uri="{FF2B5EF4-FFF2-40B4-BE49-F238E27FC236}">
                <a16:creationId xmlns:a16="http://schemas.microsoft.com/office/drawing/2014/main" id="{8F07CEEB-72D8-4676-BC9C-923D5FFCE0BD}"/>
              </a:ext>
            </a:extLst>
          </p:cNvPr>
          <p:cNvSpPr>
            <a:spLocks noGrp="1"/>
          </p:cNvSpPr>
          <p:nvPr/>
        </p:nvSpPr>
        <p:spPr>
          <a:xfrm>
            <a:off x="12625346" y="10588150"/>
            <a:ext cx="361950" cy="400050"/>
          </a:xfrm>
          <a:prstGeom prst="rightArrow">
            <a:avLst/>
          </a:prstGeom>
          <a:solidFill>
            <a:srgbClr val="858585"/>
          </a:solidFill>
          <a:ln w="4763">
            <a:solidFill>
              <a:srgbClr val="85858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" name="step5-independent">
            <a:extLst>
              <a:ext uri="{FF2B5EF4-FFF2-40B4-BE49-F238E27FC236}">
                <a16:creationId xmlns:a16="http://schemas.microsoft.com/office/drawing/2014/main" id="{4A324C03-64FF-433D-9469-8595C3886FAF}"/>
              </a:ext>
            </a:extLst>
          </p:cNvPr>
          <p:cNvSpPr>
            <a:spLocks noGrp="1"/>
          </p:cNvSpPr>
          <p:nvPr/>
        </p:nvSpPr>
        <p:spPr>
          <a:xfrm>
            <a:off x="2424071" y="10064274"/>
            <a:ext cx="1943100" cy="1540825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20955">
            <a:solidFill>
              <a:srgbClr val="7955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88" name="图片 787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2523285" y="10368885"/>
            <a:ext cx="743749" cy="1032985"/>
          </a:xfrm>
          <a:prstGeom prst="rect">
            <a:avLst/>
          </a:prstGeom>
        </p:spPr>
      </p:pic>
      <p:sp>
        <p:nvSpPr>
          <p:cNvPr id="156" name="step5-independent-header">
            <a:extLst>
              <a:ext uri="{FF2B5EF4-FFF2-40B4-BE49-F238E27FC236}">
                <a16:creationId xmlns:a16="http://schemas.microsoft.com/office/drawing/2014/main" id="{8F02AFEC-EEBF-4BDF-9792-1384A8688372}"/>
              </a:ext>
            </a:extLst>
          </p:cNvPr>
          <p:cNvSpPr>
            <a:spLocks noGrp="1"/>
          </p:cNvSpPr>
          <p:nvPr/>
        </p:nvSpPr>
        <p:spPr>
          <a:xfrm>
            <a:off x="2087882" y="10125658"/>
            <a:ext cx="2650764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5725"/>
          </a:bodyPr>
          <a:lstStyle/>
          <a:p>
            <a:pPr algn="ctr">
              <a:lnSpc>
                <a:spcPct val="92000"/>
              </a:lnSpc>
              <a:buNone/>
              <a:defRPr sz="1350" b="1" i="0">
                <a:solidFill>
                  <a:srgbClr val="7955D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7955D9"/>
                </a:solidFill>
                <a:latin typeface="Times New Roman"/>
                <a:ea typeface="Times New Roman"/>
                <a:cs typeface="Times New Roman"/>
              </a:rPr>
              <a:t>Independent project</a:t>
            </a:r>
          </a:p>
        </p:txBody>
      </p:sp>
      <p:sp>
        <p:nvSpPr>
          <p:cNvPr id="157" name="step5-independent-body">
            <a:extLst>
              <a:ext uri="{FF2B5EF4-FFF2-40B4-BE49-F238E27FC236}">
                <a16:creationId xmlns:a16="http://schemas.microsoft.com/office/drawing/2014/main" id="{D4895A42-7E90-4113-99C5-C89B243479F4}"/>
              </a:ext>
            </a:extLst>
          </p:cNvPr>
          <p:cNvSpPr>
            <a:spLocks noGrp="1"/>
          </p:cNvSpPr>
          <p:nvPr/>
        </p:nvSpPr>
        <p:spPr>
          <a:xfrm>
            <a:off x="2912810" y="10426225"/>
            <a:ext cx="1378161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per 1-sample</a:t>
            </a:r>
          </a:p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one project per</a:t>
            </a:r>
          </a:p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request</a:t>
            </a:r>
          </a:p>
        </p:txBody>
      </p:sp>
      <p:sp>
        <p:nvSpPr>
          <p:cNvPr id="158" name="step5-features">
            <a:extLst>
              <a:ext uri="{FF2B5EF4-FFF2-40B4-BE49-F238E27FC236}">
                <a16:creationId xmlns:a16="http://schemas.microsoft.com/office/drawing/2014/main" id="{90795B06-8F68-4693-82BB-032A5BF7267F}"/>
              </a:ext>
            </a:extLst>
          </p:cNvPr>
          <p:cNvSpPr>
            <a:spLocks noGrp="1"/>
          </p:cNvSpPr>
          <p:nvPr/>
        </p:nvSpPr>
        <p:spPr>
          <a:xfrm>
            <a:off x="4776746" y="10064274"/>
            <a:ext cx="2590800" cy="1540825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20955">
            <a:solidFill>
              <a:srgbClr val="7955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92" name="图片 791"/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4871994" y="10501161"/>
            <a:ext cx="576264" cy="809885"/>
          </a:xfrm>
          <a:prstGeom prst="rect">
            <a:avLst/>
          </a:prstGeom>
        </p:spPr>
      </p:pic>
      <p:sp>
        <p:nvSpPr>
          <p:cNvPr id="160" name="step5-features-header">
            <a:extLst>
              <a:ext uri="{FF2B5EF4-FFF2-40B4-BE49-F238E27FC236}">
                <a16:creationId xmlns:a16="http://schemas.microsoft.com/office/drawing/2014/main" id="{938369C2-8EB0-452A-A5D9-BC7E414FF6C8}"/>
              </a:ext>
            </a:extLst>
          </p:cNvPr>
          <p:cNvSpPr>
            <a:spLocks noGrp="1"/>
          </p:cNvSpPr>
          <p:nvPr/>
        </p:nvSpPr>
        <p:spPr>
          <a:xfrm>
            <a:off x="4840510" y="10117191"/>
            <a:ext cx="2615672" cy="254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350" b="1" i="0">
                <a:solidFill>
                  <a:srgbClr val="7955D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7955D9"/>
                </a:solidFill>
                <a:latin typeface="Times New Roman"/>
                <a:ea typeface="Times New Roman"/>
                <a:cs typeface="Times New Roman"/>
              </a:rPr>
              <a:t>Structured feature extraction</a:t>
            </a:r>
          </a:p>
        </p:txBody>
      </p:sp>
      <p:sp>
        <p:nvSpPr>
          <p:cNvPr id="161" name="step5-features-body">
            <a:extLst>
              <a:ext uri="{FF2B5EF4-FFF2-40B4-BE49-F238E27FC236}">
                <a16:creationId xmlns:a16="http://schemas.microsoft.com/office/drawing/2014/main" id="{5670C5AE-10D4-4A42-ADA1-EBD596E9CF46}"/>
              </a:ext>
            </a:extLst>
          </p:cNvPr>
          <p:cNvSpPr>
            <a:spLocks noGrp="1"/>
          </p:cNvSpPr>
          <p:nvPr/>
        </p:nvSpPr>
        <p:spPr>
          <a:xfrm>
            <a:off x="5530001" y="10464826"/>
            <a:ext cx="5169694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l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Heritage object</a:t>
            </a:r>
          </a:p>
          <a:p>
            <a:pPr algn="l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Research orientations</a:t>
            </a:r>
          </a:p>
          <a:p>
            <a:pPr algn="l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Scientific methods</a:t>
            </a:r>
          </a:p>
          <a:p>
            <a:pPr algn="l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Outcome pathways</a:t>
            </a:r>
          </a:p>
          <a:p>
            <a:pPr algn="l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Research turns</a:t>
            </a:r>
          </a:p>
          <a:p>
            <a:pPr algn="l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knowledge functions</a:t>
            </a:r>
          </a:p>
        </p:txBody>
      </p:sp>
      <p:sp>
        <p:nvSpPr>
          <p:cNvPr id="162" name="step5-parsing">
            <a:extLst>
              <a:ext uri="{FF2B5EF4-FFF2-40B4-BE49-F238E27FC236}">
                <a16:creationId xmlns:a16="http://schemas.microsoft.com/office/drawing/2014/main" id="{BC1EDCFD-733C-4EC5-83F0-576F264AE066}"/>
              </a:ext>
            </a:extLst>
          </p:cNvPr>
          <p:cNvSpPr>
            <a:spLocks noGrp="1"/>
          </p:cNvSpPr>
          <p:nvPr/>
        </p:nvSpPr>
        <p:spPr>
          <a:xfrm>
            <a:off x="7780866" y="10064274"/>
            <a:ext cx="2091755" cy="1540825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20955">
            <a:solidFill>
              <a:srgbClr val="7955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96" name="图片 795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7804689" y="10469167"/>
            <a:ext cx="723821" cy="1063652"/>
          </a:xfrm>
          <a:prstGeom prst="rect">
            <a:avLst/>
          </a:prstGeom>
        </p:spPr>
      </p:pic>
      <p:sp>
        <p:nvSpPr>
          <p:cNvPr id="164" name="step5-parsing-header">
            <a:extLst>
              <a:ext uri="{FF2B5EF4-FFF2-40B4-BE49-F238E27FC236}">
                <a16:creationId xmlns:a16="http://schemas.microsoft.com/office/drawing/2014/main" id="{412546F4-B6DD-40FC-B6FC-275189994B47}"/>
              </a:ext>
            </a:extLst>
          </p:cNvPr>
          <p:cNvSpPr>
            <a:spLocks noGrp="1"/>
          </p:cNvSpPr>
          <p:nvPr/>
        </p:nvSpPr>
        <p:spPr>
          <a:xfrm>
            <a:off x="7923925" y="9990665"/>
            <a:ext cx="2319948" cy="72860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275" b="1" i="0">
                <a:solidFill>
                  <a:srgbClr val="7955D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7955D9"/>
                </a:solidFill>
                <a:latin typeface="Times New Roman"/>
                <a:ea typeface="Times New Roman"/>
                <a:cs typeface="Times New Roman"/>
              </a:rPr>
              <a:t>Parsing and </a:t>
            </a:r>
            <a:endParaRPr lang="en-US" sz="1500" b="1" dirty="0">
              <a:solidFill>
                <a:srgbClr val="7955D9"/>
              </a:solidFill>
              <a:latin typeface="Times New Roman"/>
              <a:ea typeface="Times New Roman"/>
              <a:cs typeface="Times New Roman"/>
            </a:endParaRPr>
          </a:p>
          <a:p>
            <a:pPr algn="ctr">
              <a:lnSpc>
                <a:spcPct val="92000"/>
              </a:lnSpc>
              <a:buNone/>
              <a:defRPr sz="1275" b="1" i="0">
                <a:solidFill>
                  <a:srgbClr val="7955D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7955D9"/>
                </a:solidFill>
                <a:latin typeface="Times New Roman"/>
                <a:ea typeface="Times New Roman"/>
                <a:cs typeface="Times New Roman"/>
              </a:rPr>
              <a:t>normalization</a:t>
            </a:r>
          </a:p>
        </p:txBody>
      </p:sp>
      <p:sp>
        <p:nvSpPr>
          <p:cNvPr id="165" name="step5-parsing-body">
            <a:extLst>
              <a:ext uri="{FF2B5EF4-FFF2-40B4-BE49-F238E27FC236}">
                <a16:creationId xmlns:a16="http://schemas.microsoft.com/office/drawing/2014/main" id="{D9FCF28A-0EDB-4A74-810F-D0368FFB1379}"/>
              </a:ext>
            </a:extLst>
          </p:cNvPr>
          <p:cNvSpPr>
            <a:spLocks noGrp="1"/>
          </p:cNvSpPr>
          <p:nvPr/>
        </p:nvSpPr>
        <p:spPr>
          <a:xfrm>
            <a:off x="8310121" y="10611800"/>
            <a:ext cx="1590674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JSON parsing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label reconciliation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and alias repair</a:t>
            </a:r>
          </a:p>
        </p:txBody>
      </p:sp>
      <p:sp>
        <p:nvSpPr>
          <p:cNvPr id="166" name="step5-manual">
            <a:extLst>
              <a:ext uri="{FF2B5EF4-FFF2-40B4-BE49-F238E27FC236}">
                <a16:creationId xmlns:a16="http://schemas.microsoft.com/office/drawing/2014/main" id="{40217A50-DC03-4139-8D58-DE3FE86B3B48}"/>
              </a:ext>
            </a:extLst>
          </p:cNvPr>
          <p:cNvSpPr>
            <a:spLocks noGrp="1"/>
          </p:cNvSpPr>
          <p:nvPr/>
        </p:nvSpPr>
        <p:spPr>
          <a:xfrm>
            <a:off x="10282196" y="10064274"/>
            <a:ext cx="2324100" cy="1540825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20955">
            <a:solidFill>
              <a:srgbClr val="7955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00" name="图片 799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10314610" y="10346850"/>
            <a:ext cx="1000125" cy="1038225"/>
          </a:xfrm>
          <a:prstGeom prst="rect">
            <a:avLst/>
          </a:prstGeom>
        </p:spPr>
      </p:pic>
      <p:sp>
        <p:nvSpPr>
          <p:cNvPr id="168" name="step5-manual-header">
            <a:extLst>
              <a:ext uri="{FF2B5EF4-FFF2-40B4-BE49-F238E27FC236}">
                <a16:creationId xmlns:a16="http://schemas.microsoft.com/office/drawing/2014/main" id="{3E9F54D3-3389-4993-AA51-20F1BC658E7A}"/>
              </a:ext>
            </a:extLst>
          </p:cNvPr>
          <p:cNvSpPr>
            <a:spLocks noGrp="1"/>
          </p:cNvSpPr>
          <p:nvPr/>
        </p:nvSpPr>
        <p:spPr>
          <a:xfrm>
            <a:off x="10331553" y="10159525"/>
            <a:ext cx="2189018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5253"/>
          </a:bodyPr>
          <a:lstStyle/>
          <a:p>
            <a:pPr algn="ctr">
              <a:lnSpc>
                <a:spcPct val="92000"/>
              </a:lnSpc>
              <a:buNone/>
              <a:defRPr sz="1350" b="1" i="0">
                <a:solidFill>
                  <a:srgbClr val="7955D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955D9"/>
                </a:solidFill>
                <a:latin typeface="Times New Roman"/>
                <a:ea typeface="Times New Roman"/>
                <a:cs typeface="Times New Roman"/>
              </a:rPr>
              <a:t>Manual verification</a:t>
            </a:r>
          </a:p>
        </p:txBody>
      </p:sp>
      <p:sp>
        <p:nvSpPr>
          <p:cNvPr id="169" name="step5-manual-body">
            <a:extLst>
              <a:ext uri="{FF2B5EF4-FFF2-40B4-BE49-F238E27FC236}">
                <a16:creationId xmlns:a16="http://schemas.microsoft.com/office/drawing/2014/main" id="{13569046-CD22-45F6-B583-47ABC3E6840C}"/>
              </a:ext>
            </a:extLst>
          </p:cNvPr>
          <p:cNvSpPr>
            <a:spLocks noGrp="1"/>
          </p:cNvSpPr>
          <p:nvPr/>
        </p:nvSpPr>
        <p:spPr>
          <a:xfrm>
            <a:off x="10987046" y="10511950"/>
            <a:ext cx="1552575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review evidence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phrases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low-confidence cases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and flags</a:t>
            </a:r>
          </a:p>
        </p:txBody>
      </p:sp>
      <p:sp>
        <p:nvSpPr>
          <p:cNvPr id="170" name="step5-outputs">
            <a:extLst>
              <a:ext uri="{FF2B5EF4-FFF2-40B4-BE49-F238E27FC236}">
                <a16:creationId xmlns:a16="http://schemas.microsoft.com/office/drawing/2014/main" id="{3EC9C00D-45A2-4730-BB85-822831558E73}"/>
              </a:ext>
            </a:extLst>
          </p:cNvPr>
          <p:cNvSpPr>
            <a:spLocks noGrp="1"/>
          </p:cNvSpPr>
          <p:nvPr/>
        </p:nvSpPr>
        <p:spPr>
          <a:xfrm>
            <a:off x="12996821" y="10064274"/>
            <a:ext cx="1838325" cy="1540825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20955">
            <a:solidFill>
              <a:srgbClr val="7955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04" name="图片 803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13049210" y="10466442"/>
            <a:ext cx="895350" cy="990600"/>
          </a:xfrm>
          <a:prstGeom prst="rect">
            <a:avLst/>
          </a:prstGeom>
        </p:spPr>
      </p:pic>
      <p:sp>
        <p:nvSpPr>
          <p:cNvPr id="172" name="step5-outputs-header">
            <a:extLst>
              <a:ext uri="{FF2B5EF4-FFF2-40B4-BE49-F238E27FC236}">
                <a16:creationId xmlns:a16="http://schemas.microsoft.com/office/drawing/2014/main" id="{635254E4-99B1-49DB-B4AF-74B3BB67B2C5}"/>
              </a:ext>
            </a:extLst>
          </p:cNvPr>
          <p:cNvSpPr>
            <a:spLocks noGrp="1"/>
          </p:cNvSpPr>
          <p:nvPr/>
        </p:nvSpPr>
        <p:spPr>
          <a:xfrm>
            <a:off x="13258758" y="10118250"/>
            <a:ext cx="15049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 fontScale="97983"/>
          </a:bodyPr>
          <a:lstStyle/>
          <a:p>
            <a:pPr algn="ctr">
              <a:lnSpc>
                <a:spcPct val="92000"/>
              </a:lnSpc>
              <a:buNone/>
              <a:defRPr sz="1350" b="1" i="0">
                <a:solidFill>
                  <a:srgbClr val="7955D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7955D9"/>
                </a:solidFill>
                <a:latin typeface="Times New Roman"/>
                <a:ea typeface="Times New Roman"/>
                <a:cs typeface="Times New Roman"/>
              </a:rPr>
              <a:t>Analysis-ready</a:t>
            </a:r>
          </a:p>
          <a:p>
            <a:pPr algn="ctr">
              <a:lnSpc>
                <a:spcPct val="92000"/>
              </a:lnSpc>
              <a:buNone/>
              <a:defRPr sz="1350" b="1" i="0">
                <a:solidFill>
                  <a:srgbClr val="7955D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dirty="0">
                <a:solidFill>
                  <a:srgbClr val="7955D9"/>
                </a:solidFill>
                <a:latin typeface="Times New Roman"/>
                <a:ea typeface="Times New Roman"/>
                <a:cs typeface="Times New Roman"/>
              </a:rPr>
              <a:t>outputs</a:t>
            </a:r>
          </a:p>
        </p:txBody>
      </p:sp>
      <p:sp>
        <p:nvSpPr>
          <p:cNvPr id="173" name="step5-outputs-body">
            <a:extLst>
              <a:ext uri="{FF2B5EF4-FFF2-40B4-BE49-F238E27FC236}">
                <a16:creationId xmlns:a16="http://schemas.microsoft.com/office/drawing/2014/main" id="{11365D6B-66C9-4688-B464-23FCFDD71296}"/>
              </a:ext>
            </a:extLst>
          </p:cNvPr>
          <p:cNvSpPr>
            <a:spLocks noGrp="1"/>
          </p:cNvSpPr>
          <p:nvPr/>
        </p:nvSpPr>
        <p:spPr>
          <a:xfrm>
            <a:off x="13660437" y="10692762"/>
            <a:ext cx="1092159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Autofit/>
          </a:bodyPr>
          <a:lstStyle/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CSV/JSONL</a:t>
            </a:r>
          </a:p>
          <a:p>
            <a:pPr algn="ctr">
              <a:lnSpc>
                <a:spcPct val="92000"/>
              </a:lnSpc>
              <a:buNone/>
              <a:defRPr sz="12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00" b="1" dirty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coding matrix</a:t>
            </a:r>
          </a:p>
        </p:txBody>
      </p:sp>
      <p:sp>
        <p:nvSpPr>
          <p:cNvPr id="174" name="step5-result-1">
            <a:extLst>
              <a:ext uri="{FF2B5EF4-FFF2-40B4-BE49-F238E27FC236}">
                <a16:creationId xmlns:a16="http://schemas.microsoft.com/office/drawing/2014/main" id="{FE21333D-35B1-4CB1-9437-2F9F6AFDD456}"/>
              </a:ext>
            </a:extLst>
          </p:cNvPr>
          <p:cNvSpPr>
            <a:spLocks noGrp="1"/>
          </p:cNvSpPr>
          <p:nvPr/>
        </p:nvSpPr>
        <p:spPr>
          <a:xfrm>
            <a:off x="15597146" y="9721375"/>
            <a:ext cx="3467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7145">
            <a:solidFill>
              <a:srgbClr val="7955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6" name="step5-result-1-text">
            <a:extLst>
              <a:ext uri="{FF2B5EF4-FFF2-40B4-BE49-F238E27FC236}">
                <a16:creationId xmlns:a16="http://schemas.microsoft.com/office/drawing/2014/main" id="{87895C34-2D8C-4347-93CD-809BC0E93DD5}"/>
              </a:ext>
            </a:extLst>
          </p:cNvPr>
          <p:cNvSpPr>
            <a:spLocks noGrp="1"/>
          </p:cNvSpPr>
          <p:nvPr/>
        </p:nvSpPr>
        <p:spPr>
          <a:xfrm>
            <a:off x="16273421" y="9759475"/>
            <a:ext cx="26955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Object-problem-method structure</a:t>
            </a:r>
          </a:p>
        </p:txBody>
      </p:sp>
      <p:sp>
        <p:nvSpPr>
          <p:cNvPr id="177" name="step5-result-2">
            <a:extLst>
              <a:ext uri="{FF2B5EF4-FFF2-40B4-BE49-F238E27FC236}">
                <a16:creationId xmlns:a16="http://schemas.microsoft.com/office/drawing/2014/main" id="{2CABFFDA-D57B-473A-8939-AE1EE4B4E084}"/>
              </a:ext>
            </a:extLst>
          </p:cNvPr>
          <p:cNvSpPr>
            <a:spLocks noGrp="1"/>
          </p:cNvSpPr>
          <p:nvPr/>
        </p:nvSpPr>
        <p:spPr>
          <a:xfrm>
            <a:off x="15597146" y="10235725"/>
            <a:ext cx="3467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7145">
            <a:solidFill>
              <a:srgbClr val="7955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9" name="step5-result-2-text">
            <a:extLst>
              <a:ext uri="{FF2B5EF4-FFF2-40B4-BE49-F238E27FC236}">
                <a16:creationId xmlns:a16="http://schemas.microsoft.com/office/drawing/2014/main" id="{B8ACD537-F5C4-4B1C-A8C1-69899B70C294}"/>
              </a:ext>
            </a:extLst>
          </p:cNvPr>
          <p:cNvSpPr>
            <a:spLocks noGrp="1"/>
          </p:cNvSpPr>
          <p:nvPr/>
        </p:nvSpPr>
        <p:spPr>
          <a:xfrm>
            <a:off x="16273421" y="10273825"/>
            <a:ext cx="26955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Stage-wise evolution</a:t>
            </a:r>
          </a:p>
        </p:txBody>
      </p:sp>
      <p:sp>
        <p:nvSpPr>
          <p:cNvPr id="180" name="step5-result-3">
            <a:extLst>
              <a:ext uri="{FF2B5EF4-FFF2-40B4-BE49-F238E27FC236}">
                <a16:creationId xmlns:a16="http://schemas.microsoft.com/office/drawing/2014/main" id="{D6809E05-03F3-475A-849E-CB2DE3BD29C2}"/>
              </a:ext>
            </a:extLst>
          </p:cNvPr>
          <p:cNvSpPr>
            <a:spLocks noGrp="1"/>
          </p:cNvSpPr>
          <p:nvPr/>
        </p:nvSpPr>
        <p:spPr>
          <a:xfrm>
            <a:off x="15597146" y="10750075"/>
            <a:ext cx="3467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7145">
            <a:solidFill>
              <a:srgbClr val="7955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2" name="step5-result-3-text">
            <a:extLst>
              <a:ext uri="{FF2B5EF4-FFF2-40B4-BE49-F238E27FC236}">
                <a16:creationId xmlns:a16="http://schemas.microsoft.com/office/drawing/2014/main" id="{82FA3345-D47A-4B1B-ADC9-3C0460BC7F71}"/>
              </a:ext>
            </a:extLst>
          </p:cNvPr>
          <p:cNvSpPr>
            <a:spLocks noGrp="1"/>
          </p:cNvSpPr>
          <p:nvPr/>
        </p:nvSpPr>
        <p:spPr>
          <a:xfrm>
            <a:off x="16273421" y="10788175"/>
            <a:ext cx="26955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Research-turn network</a:t>
            </a:r>
          </a:p>
        </p:txBody>
      </p:sp>
      <p:sp>
        <p:nvSpPr>
          <p:cNvPr id="183" name="step5-result-4">
            <a:extLst>
              <a:ext uri="{FF2B5EF4-FFF2-40B4-BE49-F238E27FC236}">
                <a16:creationId xmlns:a16="http://schemas.microsoft.com/office/drawing/2014/main" id="{F8005CE5-93F1-4270-8108-9F7554836BBB}"/>
              </a:ext>
            </a:extLst>
          </p:cNvPr>
          <p:cNvSpPr>
            <a:spLocks noGrp="1"/>
          </p:cNvSpPr>
          <p:nvPr/>
        </p:nvSpPr>
        <p:spPr>
          <a:xfrm>
            <a:off x="15597146" y="11264425"/>
            <a:ext cx="3467100" cy="419100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7145">
            <a:solidFill>
              <a:srgbClr val="7955D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17" name="图片 816"/>
          <p:cNvPicPr>
            <a:picLocks noChangeAspect="1"/>
          </p:cNvPicPr>
          <p:nvPr/>
        </p:nvPicPr>
        <p:blipFill>
          <a:blip r:embed="rId26"/>
          <a:stretch/>
        </p:blipFill>
        <p:spPr>
          <a:xfrm>
            <a:off x="15804315" y="11312050"/>
            <a:ext cx="404813" cy="323850"/>
          </a:xfrm>
          <a:prstGeom prst="rect">
            <a:avLst/>
          </a:prstGeom>
        </p:spPr>
      </p:pic>
      <p:sp>
        <p:nvSpPr>
          <p:cNvPr id="185" name="step5-result-4-text">
            <a:extLst>
              <a:ext uri="{FF2B5EF4-FFF2-40B4-BE49-F238E27FC236}">
                <a16:creationId xmlns:a16="http://schemas.microsoft.com/office/drawing/2014/main" id="{5DFBF43F-27CC-4D76-A806-F77338C49866}"/>
              </a:ext>
            </a:extLst>
          </p:cNvPr>
          <p:cNvSpPr>
            <a:spLocks noGrp="1"/>
          </p:cNvSpPr>
          <p:nvPr/>
        </p:nvSpPr>
        <p:spPr>
          <a:xfrm>
            <a:off x="16273421" y="11302525"/>
            <a:ext cx="26955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8575" tIns="19050" rIns="28575" bIns="1905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1275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Outcome-pathway profile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F144E80-A70A-6687-267E-E7F7D0280D5F}"/>
              </a:ext>
            </a:extLst>
          </p:cNvPr>
          <p:cNvCxnSpPr>
            <a:cxnSpLocks/>
          </p:cNvCxnSpPr>
          <p:nvPr/>
        </p:nvCxnSpPr>
        <p:spPr>
          <a:xfrm>
            <a:off x="10972758" y="1308100"/>
            <a:ext cx="0" cy="97425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BE4A1288-D53D-2B34-1BDD-23629E2DC993}"/>
              </a:ext>
            </a:extLst>
          </p:cNvPr>
          <p:cNvSpPr/>
          <p:nvPr/>
        </p:nvSpPr>
        <p:spPr>
          <a:xfrm>
            <a:off x="662928" y="2936400"/>
            <a:ext cx="2437418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E54CE6FA-2D91-E7B5-7C7C-5D13C1D91A98}"/>
              </a:ext>
            </a:extLst>
          </p:cNvPr>
          <p:cNvCxnSpPr>
            <a:cxnSpLocks/>
          </p:cNvCxnSpPr>
          <p:nvPr/>
        </p:nvCxnSpPr>
        <p:spPr>
          <a:xfrm>
            <a:off x="4360594" y="1801648"/>
            <a:ext cx="0" cy="50927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D37EBAA0-53FF-FCB9-E153-FEF9CDAF8A48}"/>
              </a:ext>
            </a:extLst>
          </p:cNvPr>
          <p:cNvCxnSpPr>
            <a:cxnSpLocks/>
          </p:cNvCxnSpPr>
          <p:nvPr/>
        </p:nvCxnSpPr>
        <p:spPr>
          <a:xfrm>
            <a:off x="758825" y="2428875"/>
            <a:ext cx="942975" cy="127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FF53FF15-6A40-8E70-E5B0-41147CD28B86}"/>
              </a:ext>
            </a:extLst>
          </p:cNvPr>
          <p:cNvCxnSpPr>
            <a:cxnSpLocks/>
          </p:cNvCxnSpPr>
          <p:nvPr/>
        </p:nvCxnSpPr>
        <p:spPr>
          <a:xfrm flipH="1">
            <a:off x="1682750" y="2394588"/>
            <a:ext cx="1431925" cy="16128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9" name="闪电形 158">
            <a:extLst>
              <a:ext uri="{FF2B5EF4-FFF2-40B4-BE49-F238E27FC236}">
                <a16:creationId xmlns:a16="http://schemas.microsoft.com/office/drawing/2014/main" id="{D576D21E-5B3C-A6F2-517C-5AF251914B9A}"/>
              </a:ext>
            </a:extLst>
          </p:cNvPr>
          <p:cNvSpPr/>
          <p:nvPr/>
        </p:nvSpPr>
        <p:spPr>
          <a:xfrm>
            <a:off x="16388523" y="3400865"/>
            <a:ext cx="761198" cy="862686"/>
          </a:xfrm>
          <a:prstGeom prst="lightningBol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4" name="图形 183" descr="Cmd 终端 轮廓">
            <a:extLst>
              <a:ext uri="{FF2B5EF4-FFF2-40B4-BE49-F238E27FC236}">
                <a16:creationId xmlns:a16="http://schemas.microsoft.com/office/drawing/2014/main" id="{E2793C37-FAA2-ABEF-246D-073D9869CA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3228596" y="1327837"/>
            <a:ext cx="914400" cy="914400"/>
          </a:xfrm>
          <a:prstGeom prst="rect">
            <a:avLst/>
          </a:prstGeom>
        </p:spPr>
      </p:pic>
      <p:pic>
        <p:nvPicPr>
          <p:cNvPr id="577" name="图片 576">
            <a:extLst>
              <a:ext uri="{FF2B5EF4-FFF2-40B4-BE49-F238E27FC236}">
                <a16:creationId xmlns:a16="http://schemas.microsoft.com/office/drawing/2014/main" id="{2CE80C76-4F69-537D-B1A7-58516BBD0099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5709" y="4711224"/>
            <a:ext cx="1590676" cy="1590676"/>
          </a:xfrm>
          <a:prstGeom prst="rect">
            <a:avLst/>
          </a:prstGeom>
        </p:spPr>
      </p:pic>
      <p:cxnSp>
        <p:nvCxnSpPr>
          <p:cNvPr id="579" name="直接连接符 578">
            <a:extLst>
              <a:ext uri="{FF2B5EF4-FFF2-40B4-BE49-F238E27FC236}">
                <a16:creationId xmlns:a16="http://schemas.microsoft.com/office/drawing/2014/main" id="{EB00803E-E190-3950-F599-FBFB2150E456}"/>
              </a:ext>
            </a:extLst>
          </p:cNvPr>
          <p:cNvCxnSpPr>
            <a:cxnSpLocks/>
          </p:cNvCxnSpPr>
          <p:nvPr/>
        </p:nvCxnSpPr>
        <p:spPr>
          <a:xfrm>
            <a:off x="7704133" y="5911375"/>
            <a:ext cx="49633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81" name="图形 580" descr="不好的库存 轮廓">
            <a:extLst>
              <a:ext uri="{FF2B5EF4-FFF2-40B4-BE49-F238E27FC236}">
                <a16:creationId xmlns:a16="http://schemas.microsoft.com/office/drawing/2014/main" id="{F3D9D0FB-6C0E-57C2-1214-B639B89411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6264141" y="4874851"/>
            <a:ext cx="474438" cy="474438"/>
          </a:xfrm>
          <a:prstGeom prst="rect">
            <a:avLst/>
          </a:prstGeom>
        </p:spPr>
      </p:pic>
      <p:pic>
        <p:nvPicPr>
          <p:cNvPr id="583" name="图形 582" descr="有想法的人 轮廓">
            <a:extLst>
              <a:ext uri="{FF2B5EF4-FFF2-40B4-BE49-F238E27FC236}">
                <a16:creationId xmlns:a16="http://schemas.microsoft.com/office/drawing/2014/main" id="{D8E2BBB9-9B6D-8229-95E1-496C1480A7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4841691" y="4892202"/>
            <a:ext cx="488757" cy="488757"/>
          </a:xfrm>
          <a:prstGeom prst="rect">
            <a:avLst/>
          </a:prstGeom>
        </p:spPr>
      </p:pic>
      <p:pic>
        <p:nvPicPr>
          <p:cNvPr id="585" name="图形 584" descr="算盘 轮廓">
            <a:extLst>
              <a:ext uri="{FF2B5EF4-FFF2-40B4-BE49-F238E27FC236}">
                <a16:creationId xmlns:a16="http://schemas.microsoft.com/office/drawing/2014/main" id="{C3C31DD4-32B8-41D6-C06C-ACA70A0BED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7625411" y="4937721"/>
            <a:ext cx="456712" cy="456712"/>
          </a:xfrm>
          <a:prstGeom prst="rect">
            <a:avLst/>
          </a:prstGeom>
        </p:spPr>
      </p:pic>
      <p:cxnSp>
        <p:nvCxnSpPr>
          <p:cNvPr id="590" name="直接连接符 589">
            <a:extLst>
              <a:ext uri="{FF2B5EF4-FFF2-40B4-BE49-F238E27FC236}">
                <a16:creationId xmlns:a16="http://schemas.microsoft.com/office/drawing/2014/main" id="{480E230C-5235-003F-13A0-84CBE8517CCD}"/>
              </a:ext>
            </a:extLst>
          </p:cNvPr>
          <p:cNvCxnSpPr>
            <a:cxnSpLocks/>
          </p:cNvCxnSpPr>
          <p:nvPr/>
        </p:nvCxnSpPr>
        <p:spPr>
          <a:xfrm>
            <a:off x="2789238" y="11296650"/>
            <a:ext cx="3243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9" name="连接符: 曲线 608">
            <a:extLst>
              <a:ext uri="{FF2B5EF4-FFF2-40B4-BE49-F238E27FC236}">
                <a16:creationId xmlns:a16="http://schemas.microsoft.com/office/drawing/2014/main" id="{5D9C51D9-9667-F8B7-EB2D-EE34DC93B9E4}"/>
              </a:ext>
            </a:extLst>
          </p:cNvPr>
          <p:cNvCxnSpPr>
            <a:stCxn id="170" idx="3"/>
            <a:endCxn id="174" idx="1"/>
          </p:cNvCxnSpPr>
          <p:nvPr/>
        </p:nvCxnSpPr>
        <p:spPr>
          <a:xfrm flipV="1">
            <a:off x="14835146" y="9930925"/>
            <a:ext cx="762000" cy="903762"/>
          </a:xfrm>
          <a:prstGeom prst="curvedConnector3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连接符: 曲线 610">
            <a:extLst>
              <a:ext uri="{FF2B5EF4-FFF2-40B4-BE49-F238E27FC236}">
                <a16:creationId xmlns:a16="http://schemas.microsoft.com/office/drawing/2014/main" id="{A0EDF7C3-E714-C44A-2A9A-4CC4C1193FFF}"/>
              </a:ext>
            </a:extLst>
          </p:cNvPr>
          <p:cNvCxnSpPr>
            <a:stCxn id="170" idx="3"/>
            <a:endCxn id="177" idx="1"/>
          </p:cNvCxnSpPr>
          <p:nvPr/>
        </p:nvCxnSpPr>
        <p:spPr>
          <a:xfrm flipV="1">
            <a:off x="14835146" y="10445275"/>
            <a:ext cx="762000" cy="389412"/>
          </a:xfrm>
          <a:prstGeom prst="curvedConnector3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" name="连接符: 曲线 614">
            <a:extLst>
              <a:ext uri="{FF2B5EF4-FFF2-40B4-BE49-F238E27FC236}">
                <a16:creationId xmlns:a16="http://schemas.microsoft.com/office/drawing/2014/main" id="{01D1A2C2-8C6A-7857-C2A2-6A1508D54DED}"/>
              </a:ext>
            </a:extLst>
          </p:cNvPr>
          <p:cNvCxnSpPr>
            <a:stCxn id="170" idx="3"/>
            <a:endCxn id="183" idx="1"/>
          </p:cNvCxnSpPr>
          <p:nvPr/>
        </p:nvCxnSpPr>
        <p:spPr>
          <a:xfrm>
            <a:off x="14835146" y="10834687"/>
            <a:ext cx="762000" cy="639288"/>
          </a:xfrm>
          <a:prstGeom prst="curvedConnector3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7" name="连接符: 曲线 616">
            <a:extLst>
              <a:ext uri="{FF2B5EF4-FFF2-40B4-BE49-F238E27FC236}">
                <a16:creationId xmlns:a16="http://schemas.microsoft.com/office/drawing/2014/main" id="{74579536-B198-A219-F4E7-8580B1DA2027}"/>
              </a:ext>
            </a:extLst>
          </p:cNvPr>
          <p:cNvCxnSpPr>
            <a:stCxn id="170" idx="3"/>
            <a:endCxn id="180" idx="1"/>
          </p:cNvCxnSpPr>
          <p:nvPr/>
        </p:nvCxnSpPr>
        <p:spPr>
          <a:xfrm>
            <a:off x="14835146" y="10834687"/>
            <a:ext cx="762000" cy="124938"/>
          </a:xfrm>
          <a:prstGeom prst="curvedConnector3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9" name="图形 618" descr="网络 轮廓">
            <a:extLst>
              <a:ext uri="{FF2B5EF4-FFF2-40B4-BE49-F238E27FC236}">
                <a16:creationId xmlns:a16="http://schemas.microsoft.com/office/drawing/2014/main" id="{5C1109E5-1835-00D3-2DF7-2F31183B39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5682871" y="9722432"/>
            <a:ext cx="417987" cy="417987"/>
          </a:xfrm>
          <a:prstGeom prst="rect">
            <a:avLst/>
          </a:prstGeom>
        </p:spPr>
      </p:pic>
      <p:pic>
        <p:nvPicPr>
          <p:cNvPr id="621" name="图形 620" descr="已连接 轮廓">
            <a:extLst>
              <a:ext uri="{FF2B5EF4-FFF2-40B4-BE49-F238E27FC236}">
                <a16:creationId xmlns:a16="http://schemas.microsoft.com/office/drawing/2014/main" id="{2E942A58-8FF1-0E55-47B3-89A1864B47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5683887" y="10233432"/>
            <a:ext cx="459330" cy="459330"/>
          </a:xfrm>
          <a:prstGeom prst="rect">
            <a:avLst/>
          </a:prstGeom>
        </p:spPr>
      </p:pic>
      <p:pic>
        <p:nvPicPr>
          <p:cNvPr id="623" name="图形 622" descr="星座 轮廓">
            <a:extLst>
              <a:ext uri="{FF2B5EF4-FFF2-40B4-BE49-F238E27FC236}">
                <a16:creationId xmlns:a16="http://schemas.microsoft.com/office/drawing/2014/main" id="{885CE8AB-373D-4AC2-4E87-54CE914283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5722085" y="10734675"/>
            <a:ext cx="404649" cy="40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41002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</Words>
  <Application>Microsoft Office PowerPoint</Application>
  <DocSecurity>0</DocSecurity>
  <PresentationFormat>自定义</PresentationFormat>
  <Paragraphs>139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Calibri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晟北 周</cp:lastModifiedBy>
  <cp:revision>3</cp:revision>
  <dcterms:created xsi:type="dcterms:W3CDTF">2026-08-08T10:00:05Z</dcterms:created>
  <dcterms:modified xsi:type="dcterms:W3CDTF">2026-08-08T11:20:03Z</dcterms:modified>
</cp:coreProperties>
</file>